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30"/>
  </p:handoutMasterIdLst>
  <p:sldIdLst>
    <p:sldId id="3394" r:id="rId3"/>
    <p:sldId id="563" r:id="rId4"/>
    <p:sldId id="564" r:id="rId5"/>
    <p:sldId id="1383" r:id="rId6"/>
    <p:sldId id="838" r:id="rId7"/>
    <p:sldId id="1340" r:id="rId8"/>
    <p:sldId id="1384" r:id="rId9"/>
    <p:sldId id="528" r:id="rId10"/>
    <p:sldId id="565" r:id="rId11"/>
    <p:sldId id="566" r:id="rId12"/>
    <p:sldId id="622" r:id="rId13"/>
    <p:sldId id="3347" r:id="rId14"/>
    <p:sldId id="706" r:id="rId15"/>
    <p:sldId id="815" r:id="rId16"/>
    <p:sldId id="623" r:id="rId18"/>
    <p:sldId id="820" r:id="rId19"/>
    <p:sldId id="834" r:id="rId20"/>
    <p:sldId id="835" r:id="rId21"/>
    <p:sldId id="532" r:id="rId22"/>
    <p:sldId id="3349" r:id="rId23"/>
    <p:sldId id="546" r:id="rId24"/>
    <p:sldId id="613" r:id="rId25"/>
    <p:sldId id="618" r:id="rId26"/>
    <p:sldId id="620" r:id="rId27"/>
    <p:sldId id="270" r:id="rId28"/>
    <p:sldId id="271" r:id="rId29"/>
  </p:sldIdLst>
  <p:sldSz cx="9144000" cy="5143500" type="screen16x9"/>
  <p:notesSz cx="6858000" cy="9144000"/>
  <p:custDataLst>
    <p:tags r:id="rId3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9D5A64B-4431-4990-A7F7-7CD660570DF7}">
          <p14:sldIdLst>
            <p14:sldId id="3394"/>
          </p14:sldIdLst>
        </p14:section>
        <p14:section name="第二课时" id="{55D2022B-873E-41EB-89D8-6641A044DAAF}">
          <p14:sldIdLst>
            <p14:sldId id="563"/>
            <p14:sldId id="564"/>
            <p14:sldId id="1383"/>
            <p14:sldId id="838"/>
            <p14:sldId id="1340"/>
            <p14:sldId id="1384"/>
            <p14:sldId id="528"/>
            <p14:sldId id="565"/>
            <p14:sldId id="566"/>
            <p14:sldId id="622"/>
            <p14:sldId id="3347"/>
            <p14:sldId id="706"/>
            <p14:sldId id="815"/>
            <p14:sldId id="623"/>
            <p14:sldId id="820"/>
            <p14:sldId id="834"/>
            <p14:sldId id="835"/>
            <p14:sldId id="532"/>
            <p14:sldId id="3349"/>
            <p14:sldId id="546"/>
            <p14:sldId id="613"/>
            <p14:sldId id="618"/>
            <p14:sldId id="620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27" autoAdjust="0"/>
    <p:restoredTop sz="96238" autoAdjust="0"/>
  </p:normalViewPr>
  <p:slideViewPr>
    <p:cSldViewPr>
      <p:cViewPr varScale="1">
        <p:scale>
          <a:sx n="146" d="100"/>
          <a:sy n="146" d="100"/>
        </p:scale>
        <p:origin x="186" y="1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630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606"/>
    </p:cViewPr>
  </p:sorterViewPr>
  <p:notesViewPr>
    <p:cSldViewPr>
      <p:cViewPr varScale="1">
        <p:scale>
          <a:sx n="66" d="100"/>
          <a:sy n="66" d="100"/>
        </p:scale>
        <p:origin x="2141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27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D7EED66-38AF-4906-B5D4-64A3C4B2CF3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0246D9CD-5265-4EB5-B4DD-B16CA1DF2D88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2A4C1FA-7E40-4069-A1F7-1426F8FF7A94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7875CB84-B071-47A9-93F9-17827BDC32F7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fld id="{4D28ABB7-8A7F-4C35-B2C7-1138FAE77959}" type="slidenum">
              <a:rPr altLang="en-US" smtClean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file:///D:\qq&#25991;&#20214;\712321467\Image\C2C\Image2\%7b75232B38-A165-1FB7-499C-2E1C792CACB5%7d.png" TargetMode="Externa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204241" y="247249"/>
            <a:ext cx="8735518" cy="4649002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4" name="图片 1073743875" descr="学科网 zxxk.com"/>
          <p:cNvPicPr>
            <a:picLocks noChangeAspect="1"/>
          </p:cNvPicPr>
          <p:nvPr/>
        </p:nvPicPr>
        <p:blipFill>
          <a:blip r:embed="rId13" r:link="rId14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anose="02020603050405020304" pitchFamily="18" charset="0"/>
          <a:ea typeface="黑体" panose="0201060906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anose="02020603050405020304" pitchFamily="18" charset="0"/>
          <a:ea typeface="黑体" panose="0201060906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anose="02020603050405020304" pitchFamily="18" charset="0"/>
          <a:ea typeface="黑体" panose="0201060906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anose="02020603050405020304" pitchFamily="18" charset="0"/>
          <a:ea typeface="黑体" panose="0201060906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imes New Roman" panose="02020603050405020304" pitchFamily="18" charset="0"/>
          <a:ea typeface="黑体" panose="0201060906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imes New Roman" panose="02020603050405020304" pitchFamily="18" charset="0"/>
          <a:ea typeface="黑体" panose="0201060906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imes New Roman" panose="02020603050405020304" pitchFamily="18" charset="0"/>
          <a:ea typeface="黑体" panose="0201060906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imes New Roman" panose="02020603050405020304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tags" Target="../tags/tag3.xml"/><Relationship Id="rId7" Type="http://schemas.openxmlformats.org/officeDocument/2006/relationships/image" Target="../media/image12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4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5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image" Target="../media/image14.pn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tags" Target="../tags/tag9.xml"/><Relationship Id="rId5" Type="http://schemas.openxmlformats.org/officeDocument/2006/relationships/image" Target="../media/image1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10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1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3.xml"/><Relationship Id="rId1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14.xml"/><Relationship Id="rId4" Type="http://schemas.openxmlformats.org/officeDocument/2006/relationships/image" Target="../media/image30.png"/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image" Target="../media/image27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5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.xml"/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image" Target="../media/image34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1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22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GIF"/><Relationship Id="rId1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tags" Target="../tags/tag2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1.png"/><Relationship Id="rId2" Type="http://schemas.openxmlformats.org/officeDocument/2006/relationships/image" Target="../media/image44.GIF"/><Relationship Id="rId1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24.xml"/><Relationship Id="rId4" Type="http://schemas.openxmlformats.org/officeDocument/2006/relationships/image" Target="../media/image49.png"/><Relationship Id="rId3" Type="http://schemas.openxmlformats.org/officeDocument/2006/relationships/image" Target="../media/image41.png"/><Relationship Id="rId2" Type="http://schemas.openxmlformats.org/officeDocument/2006/relationships/image" Target="../media/image48.GIF"/><Relationship Id="rId1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9162415" cy="51898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-2135"/>
          <a:stretch>
            <a:fillRect/>
          </a:stretch>
        </p:blipFill>
        <p:spPr>
          <a:xfrm>
            <a:off x="-252537" y="-1532706"/>
            <a:ext cx="9396537" cy="683269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9108" y="826626"/>
            <a:ext cx="9396537" cy="4402986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 flipH="1">
            <a:off x="6084168" y="2385795"/>
            <a:ext cx="2892479" cy="2757705"/>
            <a:chOff x="0" y="2380065"/>
            <a:chExt cx="2892479" cy="275770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441107"/>
              <a:ext cx="2892479" cy="2696663"/>
            </a:xfrm>
            <a:prstGeom prst="rect">
              <a:avLst/>
            </a:prstGeom>
          </p:spPr>
        </p:pic>
        <p:grpSp>
          <p:nvGrpSpPr>
            <p:cNvPr id="7" name="组合 6"/>
            <p:cNvGrpSpPr/>
            <p:nvPr/>
          </p:nvGrpSpPr>
          <p:grpSpPr>
            <a:xfrm>
              <a:off x="323528" y="2380065"/>
              <a:ext cx="1908689" cy="1908689"/>
              <a:chOff x="3239376" y="3392752"/>
              <a:chExt cx="1908689" cy="1908689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3239376" y="3392752"/>
                <a:ext cx="1908689" cy="1908689"/>
                <a:chOff x="3161374" y="3370213"/>
                <a:chExt cx="1908689" cy="1908689"/>
              </a:xfrm>
            </p:grpSpPr>
            <p:pic>
              <p:nvPicPr>
                <p:cNvPr id="10" name="图片 9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61374" y="3370213"/>
                  <a:ext cx="1908689" cy="1908689"/>
                </a:xfrm>
                <a:prstGeom prst="rect">
                  <a:avLst/>
                </a:prstGeom>
              </p:spPr>
            </p:pic>
            <p:sp>
              <p:nvSpPr>
                <p:cNvPr id="11" name="椭圆 10"/>
                <p:cNvSpPr/>
                <p:nvPr/>
              </p:nvSpPr>
              <p:spPr>
                <a:xfrm>
                  <a:off x="3851917" y="4236351"/>
                  <a:ext cx="527601" cy="648072"/>
                </a:xfrm>
                <a:prstGeom prst="ellipse">
                  <a:avLst/>
                </a:prstGeom>
                <a:solidFill>
                  <a:srgbClr val="D8BA9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96318" y="4142728"/>
                <a:ext cx="884610" cy="884610"/>
              </a:xfrm>
              <a:prstGeom prst="rect">
                <a:avLst/>
              </a:prstGeom>
            </p:spPr>
          </p:pic>
        </p:grpSp>
      </p:grpSp>
      <p:sp>
        <p:nvSpPr>
          <p:cNvPr id="13" name="矩形 12"/>
          <p:cNvSpPr/>
          <p:nvPr/>
        </p:nvSpPr>
        <p:spPr>
          <a:xfrm>
            <a:off x="1741070" y="881672"/>
            <a:ext cx="6221506" cy="8137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200" eaLnBrk="0" hangingPunct="0">
              <a:defRPr/>
            </a:pPr>
            <a:endParaRPr lang="zh-CN" altLang="en-US" sz="2400">
              <a:solidFill>
                <a:prstClr val="white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矩形 1"/>
          <p:cNvSpPr>
            <a:spLocks noChangeArrowheads="1"/>
          </p:cNvSpPr>
          <p:nvPr/>
        </p:nvSpPr>
        <p:spPr bwMode="auto">
          <a:xfrm>
            <a:off x="2187402" y="890579"/>
            <a:ext cx="7985441" cy="733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735" b="1">
                <a:latin typeface="楷体" panose="02010609060101010101" pitchFamily="49" charset="-122"/>
                <a:ea typeface="楷体" panose="02010609060101010101" pitchFamily="49" charset="-122"/>
              </a:rPr>
              <a:t>小马甩甩尾巴，跑回家去。</a:t>
            </a:r>
            <a:endParaRPr lang="zh-CN" altLang="en-US" sz="3735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6"/>
    </p:custData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06 -1.23457E-07 L -1.00087 0.00617" pathEditMode="relative" rAng="0" ptsTypes="AA">
                                      <p:cBhvr>
                                        <p:cTn id="18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52" y="30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8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8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8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800" fill="hold">
                                          <p:stCondLst>
                                            <p:cond delay="3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656" y="-1748730"/>
            <a:ext cx="5280127" cy="712542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055374"/>
            <a:ext cx="3312368" cy="3088126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041973" y="1000772"/>
            <a:ext cx="4955805" cy="1985584"/>
            <a:chOff x="3041973" y="1000772"/>
            <a:chExt cx="4955805" cy="1985584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3041973" y="1000772"/>
              <a:ext cx="4955805" cy="1985584"/>
            </a:xfrm>
            <a:prstGeom prst="rect">
              <a:avLst/>
            </a:prstGeom>
          </p:spPr>
        </p:pic>
        <p:sp>
          <p:nvSpPr>
            <p:cNvPr id="11" name="矩形 1"/>
            <p:cNvSpPr>
              <a:spLocks noChangeArrowheads="1"/>
            </p:cNvSpPr>
            <p:nvPr/>
          </p:nvSpPr>
          <p:spPr bwMode="auto">
            <a:xfrm>
              <a:off x="4131492" y="1526753"/>
              <a:ext cx="3128347" cy="641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怎么回来啦</a:t>
              </a: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 flipH="1">
            <a:off x="1475656" y="990580"/>
            <a:ext cx="4955805" cy="1985584"/>
            <a:chOff x="3041973" y="1000772"/>
            <a:chExt cx="4955805" cy="1985584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3041973" y="1000772"/>
              <a:ext cx="4955805" cy="1985584"/>
            </a:xfrm>
            <a:prstGeom prst="rect">
              <a:avLst/>
            </a:prstGeom>
          </p:spPr>
        </p:pic>
        <p:sp>
          <p:nvSpPr>
            <p:cNvPr id="15" name="矩形 1"/>
            <p:cNvSpPr>
              <a:spLocks noChangeArrowheads="1"/>
            </p:cNvSpPr>
            <p:nvPr/>
          </p:nvSpPr>
          <p:spPr bwMode="auto">
            <a:xfrm>
              <a:off x="3955702" y="1429707"/>
              <a:ext cx="3128347" cy="835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一条河挡住了，我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……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我过不去。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107335" y="973403"/>
            <a:ext cx="4955805" cy="1985584"/>
            <a:chOff x="3026996" y="967537"/>
            <a:chExt cx="4955805" cy="1985584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3026996" y="967537"/>
              <a:ext cx="4955805" cy="1985584"/>
            </a:xfrm>
            <a:prstGeom prst="rect">
              <a:avLst/>
            </a:prstGeom>
          </p:spPr>
        </p:pic>
        <p:sp>
          <p:nvSpPr>
            <p:cNvPr id="18" name="矩形 1"/>
            <p:cNvSpPr>
              <a:spLocks noChangeArrowheads="1"/>
            </p:cNvSpPr>
            <p:nvPr/>
          </p:nvSpPr>
          <p:spPr bwMode="auto">
            <a:xfrm>
              <a:off x="4035108" y="1603506"/>
              <a:ext cx="3128347" cy="435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那条河不是很浅吗？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 flipH="1">
            <a:off x="9001286" y="2385795"/>
            <a:ext cx="2892479" cy="2757705"/>
            <a:chOff x="0" y="2380065"/>
            <a:chExt cx="2892479" cy="2757705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2441107"/>
              <a:ext cx="2892479" cy="2696663"/>
            </a:xfrm>
            <a:prstGeom prst="rect">
              <a:avLst/>
            </a:prstGeom>
          </p:spPr>
        </p:pic>
        <p:grpSp>
          <p:nvGrpSpPr>
            <p:cNvPr id="26" name="组合 25"/>
            <p:cNvGrpSpPr/>
            <p:nvPr/>
          </p:nvGrpSpPr>
          <p:grpSpPr>
            <a:xfrm>
              <a:off x="323528" y="2380065"/>
              <a:ext cx="1908689" cy="1908689"/>
              <a:chOff x="3239376" y="3392752"/>
              <a:chExt cx="1908689" cy="1908689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3239376" y="3392752"/>
                <a:ext cx="1908689" cy="1908689"/>
                <a:chOff x="3161374" y="3370213"/>
                <a:chExt cx="1908689" cy="1908689"/>
              </a:xfrm>
            </p:grpSpPr>
            <p:pic>
              <p:nvPicPr>
                <p:cNvPr id="31" name="图片 30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61374" y="3370213"/>
                  <a:ext cx="1908689" cy="1908689"/>
                </a:xfrm>
                <a:prstGeom prst="rect">
                  <a:avLst/>
                </a:prstGeom>
              </p:spPr>
            </p:pic>
            <p:sp>
              <p:nvSpPr>
                <p:cNvPr id="32" name="椭圆 31"/>
                <p:cNvSpPr/>
                <p:nvPr/>
              </p:nvSpPr>
              <p:spPr>
                <a:xfrm>
                  <a:off x="3851917" y="4236351"/>
                  <a:ext cx="527601" cy="648072"/>
                </a:xfrm>
                <a:prstGeom prst="ellipse">
                  <a:avLst/>
                </a:prstGeom>
                <a:solidFill>
                  <a:srgbClr val="D8BA9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30" name="图片 2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96318" y="4142728"/>
                <a:ext cx="884610" cy="884610"/>
              </a:xfrm>
              <a:prstGeom prst="rect">
                <a:avLst/>
              </a:prstGeom>
            </p:spPr>
          </p:pic>
        </p:grpSp>
      </p:grpSp>
      <p:grpSp>
        <p:nvGrpSpPr>
          <p:cNvPr id="33" name="组合 32"/>
          <p:cNvGrpSpPr/>
          <p:nvPr/>
        </p:nvGrpSpPr>
        <p:grpSpPr>
          <a:xfrm flipH="1">
            <a:off x="924183" y="163807"/>
            <a:ext cx="5774246" cy="3088126"/>
            <a:chOff x="3062121" y="856993"/>
            <a:chExt cx="4955805" cy="2394433"/>
          </a:xfrm>
        </p:grpSpPr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3062121" y="856993"/>
              <a:ext cx="4955805" cy="2394433"/>
            </a:xfrm>
            <a:prstGeom prst="rect">
              <a:avLst/>
            </a:prstGeom>
          </p:spPr>
        </p:pic>
        <p:sp>
          <p:nvSpPr>
            <p:cNvPr id="35" name="矩形 1"/>
            <p:cNvSpPr>
              <a:spLocks noChangeArrowheads="1"/>
            </p:cNvSpPr>
            <p:nvPr/>
          </p:nvSpPr>
          <p:spPr bwMode="auto">
            <a:xfrm>
              <a:off x="3938664" y="1395902"/>
              <a:ext cx="2778639" cy="958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是啊！牛伯伯也这么说。可是松鼠说河水很深，还淹死过他的伙伴呢！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072511" y="956362"/>
            <a:ext cx="4955805" cy="1985584"/>
            <a:chOff x="3026996" y="967537"/>
            <a:chExt cx="4955805" cy="1985584"/>
          </a:xfrm>
        </p:grpSpPr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3026996" y="967537"/>
              <a:ext cx="4955805" cy="1985584"/>
            </a:xfrm>
            <a:prstGeom prst="rect">
              <a:avLst/>
            </a:prstGeom>
          </p:spPr>
        </p:pic>
        <p:sp>
          <p:nvSpPr>
            <p:cNvPr id="38" name="矩形 1"/>
            <p:cNvSpPr>
              <a:spLocks noChangeArrowheads="1"/>
            </p:cNvSpPr>
            <p:nvPr/>
          </p:nvSpPr>
          <p:spPr bwMode="auto">
            <a:xfrm>
              <a:off x="3920956" y="1451629"/>
              <a:ext cx="3331044" cy="835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那么河水到底是深还是浅？你仔细想过他们的话吗？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1509282" y="854818"/>
            <a:ext cx="4955805" cy="1985584"/>
            <a:chOff x="3026996" y="967537"/>
            <a:chExt cx="4955805" cy="198558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3026996" y="967537"/>
              <a:ext cx="4955805" cy="1985584"/>
            </a:xfrm>
            <a:prstGeom prst="rect">
              <a:avLst/>
            </a:prstGeom>
          </p:spPr>
        </p:pic>
        <p:sp>
          <p:nvSpPr>
            <p:cNvPr id="41" name="矩形 1"/>
            <p:cNvSpPr>
              <a:spLocks noChangeArrowheads="1"/>
            </p:cNvSpPr>
            <p:nvPr/>
          </p:nvSpPr>
          <p:spPr bwMode="auto">
            <a:xfrm>
              <a:off x="3321763" y="1604706"/>
              <a:ext cx="3331044" cy="435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没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……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没想过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902718" y="65309"/>
            <a:ext cx="5774246" cy="3088126"/>
            <a:chOff x="3062121" y="856993"/>
            <a:chExt cx="4955805" cy="2394433"/>
          </a:xfrm>
        </p:grpSpPr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3062121" y="856993"/>
              <a:ext cx="4955805" cy="2394433"/>
            </a:xfrm>
            <a:prstGeom prst="rect">
              <a:avLst/>
            </a:prstGeom>
          </p:spPr>
        </p:pic>
        <p:sp>
          <p:nvSpPr>
            <p:cNvPr id="44" name="矩形 1"/>
            <p:cNvSpPr>
              <a:spLocks noChangeArrowheads="1"/>
            </p:cNvSpPr>
            <p:nvPr/>
          </p:nvSpPr>
          <p:spPr bwMode="auto">
            <a:xfrm>
              <a:off x="4047985" y="1315126"/>
              <a:ext cx="3119524" cy="1268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孩子，光听别人说，自己不动脑筋，不去试试，是不行的。河水是深是浅，你去试一试就会明白了。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</p:grpSp>
    </p:spTree>
    <p:custDataLst>
      <p:tags r:id="rId8"/>
    </p:custData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06 -1.23457E-07 L -0.47517 0.01512" pathEditMode="relative" rAng="0" ptsTypes="AA">
                                      <p:cBhvr>
                                        <p:cTn id="6" dur="4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767" y="74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8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" dur="8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8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" dur="800" fill="hold">
                                          <p:stCondLst>
                                            <p:cond delay="3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383222" y="1419622"/>
            <a:ext cx="8377555" cy="191590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32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妈妈问他：“怎么回来啦？”</a:t>
            </a:r>
            <a:endParaRPr lang="zh-CN" altLang="en-US" sz="3200" b="1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32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小马难为情地说：“一条河挡住了去路，我</a:t>
            </a:r>
            <a:r>
              <a:rPr lang="en-US" altLang="zh-CN" sz="32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  <a:r>
              <a:rPr lang="zh-CN" altLang="en-US" sz="32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过不去。”</a:t>
            </a:r>
            <a:endParaRPr lang="zh-CN" altLang="en-US" sz="3200" b="1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980799" y="2604710"/>
            <a:ext cx="129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856338" y="3252782"/>
            <a:ext cx="948055" cy="635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4" name="矩形 3"/>
          <p:cNvSpPr/>
          <p:nvPr/>
        </p:nvSpPr>
        <p:spPr>
          <a:xfrm>
            <a:off x="2860933" y="3840718"/>
            <a:ext cx="5838189" cy="83099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声音要稍低，要注意省略号的停顿，把难为情、很不好意思表现出来。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文本框 10"/>
          <p:cNvSpPr txBox="1"/>
          <p:nvPr/>
        </p:nvSpPr>
        <p:spPr>
          <a:xfrm>
            <a:off x="1059465" y="4179272"/>
            <a:ext cx="165603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>
                <a:latin typeface="楷体" panose="02010609060101010101" pitchFamily="49" charset="-122"/>
                <a:ea typeface="楷体" panose="02010609060101010101" pitchFamily="49" charset="-122"/>
              </a:rPr>
              <a:t>朗读指导</a:t>
            </a:r>
            <a:endParaRPr lang="zh-CN" altLang="en-US" sz="26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55244" y="3900678"/>
            <a:ext cx="771037" cy="77103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397798"/>
            <a:ext cx="2804403" cy="926672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3"/>
          <p:cNvGrpSpPr/>
          <p:nvPr/>
        </p:nvGrpSpPr>
        <p:grpSpPr>
          <a:xfrm>
            <a:off x="323528" y="397151"/>
            <a:ext cx="6219949" cy="1801812"/>
            <a:chOff x="718981" y="630359"/>
            <a:chExt cx="6220635" cy="1803940"/>
          </a:xfrm>
        </p:grpSpPr>
        <p:grpSp>
          <p:nvGrpSpPr>
            <p:cNvPr id="29706" name="组合 16"/>
            <p:cNvGrpSpPr/>
            <p:nvPr/>
          </p:nvGrpSpPr>
          <p:grpSpPr>
            <a:xfrm>
              <a:off x="2746567" y="1111939"/>
              <a:ext cx="4193049" cy="624625"/>
              <a:chOff x="2597701" y="4114546"/>
              <a:chExt cx="4193049" cy="624625"/>
            </a:xfrm>
          </p:grpSpPr>
          <p:sp>
            <p:nvSpPr>
              <p:cNvPr id="30" name="对话气泡: 圆角矩形 29"/>
              <p:cNvSpPr/>
              <p:nvPr/>
            </p:nvSpPr>
            <p:spPr>
              <a:xfrm>
                <a:off x="2597701" y="4114546"/>
                <a:ext cx="4193049" cy="624625"/>
              </a:xfrm>
              <a:prstGeom prst="wedgeRoundRectCallout">
                <a:avLst>
                  <a:gd name="adj1" fmla="val -55801"/>
                  <a:gd name="adj2" fmla="val 10415"/>
                  <a:gd name="adj3" fmla="val 16667"/>
                </a:avLst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9709" name="文本框 2"/>
              <p:cNvSpPr txBox="1">
                <a:spLocks noChangeArrowheads="1"/>
              </p:cNvSpPr>
              <p:nvPr/>
            </p:nvSpPr>
            <p:spPr bwMode="auto">
              <a:xfrm>
                <a:off x="2703315" y="4120070"/>
                <a:ext cx="3980696" cy="598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Font typeface="Arial" panose="020B0604020202020204" pitchFamily="34" charset="0"/>
                  <a:buNone/>
                </a:pPr>
                <a:r>
                  <a:rPr lang="zh-CN" altLang="en-US" sz="3400" b="1">
                    <a:solidFill>
                      <a:srgbClr val="00B05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那条河不是很浅吗？</a:t>
                </a:r>
                <a:endParaRPr lang="zh-CN" altLang="en-US" sz="3400" b="1">
                  <a:solidFill>
                    <a:srgbClr val="00B05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pic>
          <p:nvPicPr>
            <p:cNvPr id="29707" name="图片 10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09" r="-2353"/>
            <a:stretch>
              <a:fillRect/>
            </a:stretch>
          </p:blipFill>
          <p:spPr bwMode="auto">
            <a:xfrm>
              <a:off x="718981" y="630359"/>
              <a:ext cx="1920846" cy="18039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组合 31"/>
          <p:cNvGrpSpPr/>
          <p:nvPr/>
        </p:nvGrpSpPr>
        <p:grpSpPr>
          <a:xfrm>
            <a:off x="539552" y="2619820"/>
            <a:ext cx="8280920" cy="1392978"/>
            <a:chOff x="2934727" y="1104844"/>
            <a:chExt cx="8280252" cy="1392691"/>
          </a:xfrm>
          <a:noFill/>
        </p:grpSpPr>
        <p:grpSp>
          <p:nvGrpSpPr>
            <p:cNvPr id="29702" name="组合 21"/>
            <p:cNvGrpSpPr/>
            <p:nvPr/>
          </p:nvGrpSpPr>
          <p:grpSpPr>
            <a:xfrm>
              <a:off x="2934727" y="1104844"/>
              <a:ext cx="6960844" cy="1287534"/>
              <a:chOff x="2785861" y="4107451"/>
              <a:chExt cx="6960844" cy="1287534"/>
            </a:xfrm>
            <a:grpFill/>
          </p:grpSpPr>
          <p:sp>
            <p:nvSpPr>
              <p:cNvPr id="35" name="对话气泡: 圆角矩形 34"/>
              <p:cNvSpPr/>
              <p:nvPr/>
            </p:nvSpPr>
            <p:spPr>
              <a:xfrm>
                <a:off x="2785861" y="4107600"/>
                <a:ext cx="6960626" cy="1287196"/>
              </a:xfrm>
              <a:prstGeom prst="wedgeRoundRectCallout">
                <a:avLst>
                  <a:gd name="adj1" fmla="val 53747"/>
                  <a:gd name="adj2" fmla="val 9673"/>
                  <a:gd name="adj3" fmla="val 16667"/>
                </a:avLst>
              </a:prstGeom>
              <a:grpFill/>
              <a:ln>
                <a:solidFill>
                  <a:srgbClr val="FF99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rgbClr val="9900FF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9705" name="文本框 2"/>
              <p:cNvSpPr txBox="1">
                <a:spLocks noChangeArrowheads="1"/>
              </p:cNvSpPr>
              <p:nvPr/>
            </p:nvSpPr>
            <p:spPr bwMode="auto">
              <a:xfrm>
                <a:off x="2806002" y="4149679"/>
                <a:ext cx="6933394" cy="1195778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3200" b="1">
                    <a:solidFill>
                      <a:srgbClr val="99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 是啊！牛伯伯也这么说，可是松鼠说河水很深，还淹死过他的伙伴呢！</a:t>
                </a:r>
                <a:endParaRPr lang="zh-CN" altLang="en-US" sz="3200" b="1">
                  <a:solidFill>
                    <a:srgbClr val="9900FF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pic>
          <p:nvPicPr>
            <p:cNvPr id="29703" name="图片 1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19" r="128"/>
            <a:stretch>
              <a:fillRect/>
            </a:stretch>
          </p:blipFill>
          <p:spPr bwMode="auto">
            <a:xfrm flipH="1">
              <a:off x="10062944" y="1272763"/>
              <a:ext cx="1152035" cy="1224772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497" name="文本框 2"/>
          <p:cNvSpPr txBox="1">
            <a:spLocks noChangeArrowheads="1"/>
          </p:cNvSpPr>
          <p:nvPr/>
        </p:nvSpPr>
        <p:spPr bwMode="auto">
          <a:xfrm>
            <a:off x="2244162" y="1714407"/>
            <a:ext cx="511256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反问</a:t>
            </a:r>
            <a:r>
              <a:rPr lang="en-US" altLang="zh-CN" sz="3200" b="1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3200" b="1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读出疑惑的心情</a:t>
            </a:r>
            <a:endParaRPr lang="zh-CN" altLang="en-US" sz="3200" b="1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2"/>
          <p:cNvSpPr txBox="1">
            <a:spLocks noChangeArrowheads="1"/>
          </p:cNvSpPr>
          <p:nvPr/>
        </p:nvSpPr>
        <p:spPr bwMode="auto">
          <a:xfrm>
            <a:off x="1791621" y="4067250"/>
            <a:ext cx="44259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3600" b="1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委屈说明自己的为难</a:t>
            </a:r>
            <a:endParaRPr lang="zh-CN" altLang="en-US" sz="3600" b="1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7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83902" y="1059913"/>
            <a:ext cx="3456384" cy="187493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那么河水到底是深还是浅呢？你仔细想过他们的话吗？</a:t>
            </a:r>
            <a:endParaRPr lang="zh-CN" altLang="en-US" sz="32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文本框 2"/>
          <p:cNvSpPr txBox="1">
            <a:spLocks noChangeArrowheads="1"/>
          </p:cNvSpPr>
          <p:nvPr/>
        </p:nvSpPr>
        <p:spPr bwMode="auto">
          <a:xfrm>
            <a:off x="4860032" y="1617643"/>
            <a:ext cx="352839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连发两问，启发小马动脑筋思考。</a:t>
            </a:r>
            <a:endParaRPr lang="zh-CN" altLang="en-US" sz="2800" b="1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0" name="组合 31"/>
          <p:cNvGrpSpPr/>
          <p:nvPr/>
        </p:nvGrpSpPr>
        <p:grpSpPr>
          <a:xfrm>
            <a:off x="3923928" y="3159687"/>
            <a:ext cx="4718745" cy="1436687"/>
            <a:chOff x="6313348" y="617261"/>
            <a:chExt cx="4719264" cy="1436610"/>
          </a:xfrm>
        </p:grpSpPr>
        <p:grpSp>
          <p:nvGrpSpPr>
            <p:cNvPr id="21" name="组合 21"/>
            <p:cNvGrpSpPr/>
            <p:nvPr/>
          </p:nvGrpSpPr>
          <p:grpSpPr>
            <a:xfrm>
              <a:off x="6313348" y="1085621"/>
              <a:ext cx="3008576" cy="621631"/>
              <a:chOff x="6164482" y="4088228"/>
              <a:chExt cx="3008576" cy="621631"/>
            </a:xfrm>
          </p:grpSpPr>
          <p:sp>
            <p:nvSpPr>
              <p:cNvPr id="23" name="对话气泡: 圆角矩形 22"/>
              <p:cNvSpPr/>
              <p:nvPr/>
            </p:nvSpPr>
            <p:spPr>
              <a:xfrm>
                <a:off x="6164482" y="4106366"/>
                <a:ext cx="3008643" cy="603218"/>
              </a:xfrm>
              <a:prstGeom prst="wedgeRoundRectCallout">
                <a:avLst>
                  <a:gd name="adj1" fmla="val 60188"/>
                  <a:gd name="adj2" fmla="val 9607"/>
                  <a:gd name="adj3" fmla="val 16667"/>
                </a:avLst>
              </a:prstGeom>
              <a:solidFill>
                <a:srgbClr val="FFF7FF"/>
              </a:solidFill>
              <a:ln>
                <a:solidFill>
                  <a:srgbClr val="FF99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4" name="文本框 2"/>
              <p:cNvSpPr txBox="1">
                <a:spLocks noChangeArrowheads="1"/>
              </p:cNvSpPr>
              <p:nvPr/>
            </p:nvSpPr>
            <p:spPr bwMode="auto">
              <a:xfrm>
                <a:off x="6264308" y="4088228"/>
                <a:ext cx="2730402" cy="6050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3200" b="1">
                    <a:solidFill>
                      <a:srgbClr val="99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没</a:t>
                </a:r>
                <a:r>
                  <a:rPr lang="en-US" altLang="zh-CN" sz="3200" b="1">
                    <a:solidFill>
                      <a:srgbClr val="99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……</a:t>
                </a:r>
                <a:r>
                  <a:rPr lang="zh-CN" altLang="en-US" sz="3200" b="1">
                    <a:solidFill>
                      <a:srgbClr val="99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没想过。</a:t>
                </a:r>
                <a:endParaRPr lang="zh-CN" altLang="en-US" sz="3200" b="1">
                  <a:solidFill>
                    <a:srgbClr val="9900FF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pic>
          <p:nvPicPr>
            <p:cNvPr id="22" name="图片 10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6" r="3546"/>
            <a:stretch>
              <a:fillRect/>
            </a:stretch>
          </p:blipFill>
          <p:spPr bwMode="auto">
            <a:xfrm flipH="1">
              <a:off x="9600233" y="617261"/>
              <a:ext cx="1432379" cy="1436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" name="文本框 2"/>
          <p:cNvSpPr txBox="1">
            <a:spLocks noChangeArrowheads="1"/>
          </p:cNvSpPr>
          <p:nvPr/>
        </p:nvSpPr>
        <p:spPr bwMode="auto">
          <a:xfrm>
            <a:off x="1281380" y="3255338"/>
            <a:ext cx="2514059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FF5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小马认识到自己错误时的心情更难为情。</a:t>
            </a:r>
            <a:endParaRPr lang="zh-CN" altLang="en-US" sz="2800" b="1">
              <a:solidFill>
                <a:srgbClr val="FF505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67494"/>
            <a:ext cx="2804403" cy="926672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580821" y="1519724"/>
            <a:ext cx="7920880" cy="183127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32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妈妈亲切地对他说：</a:t>
            </a:r>
            <a:r>
              <a:rPr lang="en-US" altLang="zh-CN" sz="32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孩子，光听别人说，自己不动脑筋，不去试试，是不行的。河水是深是浅，你去试一试就知道了。</a:t>
            </a:r>
            <a:r>
              <a:rPr lang="en-US" altLang="zh-CN" sz="32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endParaRPr lang="en-US" altLang="zh-CN" sz="3200" b="1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526341" y="2067694"/>
            <a:ext cx="1296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53993" y="669663"/>
            <a:ext cx="8435728" cy="556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5000"/>
              </a:lnSpc>
            </a:pPr>
            <a:r>
              <a:rPr lang="zh-CN" altLang="en-US" sz="28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小马知道自己错在了哪儿，再读妈妈跟小马说的话。</a:t>
            </a:r>
            <a:endParaRPr lang="zh-CN" altLang="en-US" sz="28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0029" y="3507854"/>
            <a:ext cx="8222463" cy="1095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5000"/>
              </a:lnSpc>
            </a:pPr>
            <a:r>
              <a:rPr lang="zh-CN" altLang="en-US" sz="28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小马听懂妈妈的话了吗？再读妈妈的话，她让小马怎么做？</a:t>
            </a:r>
            <a:endParaRPr lang="zh-CN" altLang="en-US" sz="2800" b="1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 hidden="1"/>
          <p:cNvCxnSpPr/>
          <p:nvPr/>
        </p:nvCxnSpPr>
        <p:spPr>
          <a:xfrm>
            <a:off x="7942263" y="1347788"/>
            <a:ext cx="54610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" name="直接连接符 8" hidden="1"/>
          <p:cNvCxnSpPr/>
          <p:nvPr/>
        </p:nvCxnSpPr>
        <p:spPr>
          <a:xfrm flipV="1">
            <a:off x="1624013" y="1908175"/>
            <a:ext cx="6769100" cy="60325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" name="直接连接符 10" hidden="1"/>
          <p:cNvCxnSpPr/>
          <p:nvPr/>
        </p:nvCxnSpPr>
        <p:spPr>
          <a:xfrm>
            <a:off x="1552575" y="2405063"/>
            <a:ext cx="6840538" cy="71437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4" name="直接连接符 13" hidden="1"/>
          <p:cNvCxnSpPr/>
          <p:nvPr/>
        </p:nvCxnSpPr>
        <p:spPr>
          <a:xfrm>
            <a:off x="1552575" y="3076575"/>
            <a:ext cx="1871663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" name="TextBox 3"/>
          <p:cNvSpPr txBox="1"/>
          <p:nvPr/>
        </p:nvSpPr>
        <p:spPr>
          <a:xfrm>
            <a:off x="683568" y="555526"/>
            <a:ext cx="7172325" cy="6048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讨论：妈妈的话是想告诉小马什么？</a:t>
            </a:r>
            <a:endParaRPr lang="zh-CN" altLang="en-US" sz="32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文本框 3"/>
          <p:cNvSpPr txBox="1">
            <a:spLocks noChangeArrowheads="1"/>
          </p:cNvSpPr>
          <p:nvPr/>
        </p:nvSpPr>
        <p:spPr bwMode="auto">
          <a:xfrm>
            <a:off x="827583" y="1275606"/>
            <a:ext cx="7417172" cy="320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    遇事不要只听别人说，一定要自己动脑经想一想，亲自试一试，因为别人说的，往往只适合别人，别人说的对不对，要自己去试试，才能找到问题的答案。</a:t>
            </a:r>
            <a:endParaRPr lang="en-US" altLang="zh-CN" sz="32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drap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545"/>
            <a:ext cx="9144000" cy="51435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-828600" y="1707654"/>
            <a:ext cx="2892479" cy="2757705"/>
            <a:chOff x="0" y="2380065"/>
            <a:chExt cx="2892479" cy="275770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441107"/>
              <a:ext cx="2892479" cy="2696663"/>
            </a:xfrm>
            <a:prstGeom prst="rect">
              <a:avLst/>
            </a:prstGeom>
          </p:spPr>
        </p:pic>
        <p:grpSp>
          <p:nvGrpSpPr>
            <p:cNvPr id="5" name="组合 4"/>
            <p:cNvGrpSpPr/>
            <p:nvPr/>
          </p:nvGrpSpPr>
          <p:grpSpPr>
            <a:xfrm>
              <a:off x="323528" y="2380065"/>
              <a:ext cx="1908689" cy="1908689"/>
              <a:chOff x="3239376" y="3392752"/>
              <a:chExt cx="1908689" cy="1908689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3239376" y="3392752"/>
                <a:ext cx="1908689" cy="1908689"/>
                <a:chOff x="3161374" y="3370213"/>
                <a:chExt cx="1908689" cy="1908689"/>
              </a:xfrm>
            </p:grpSpPr>
            <p:pic>
              <p:nvPicPr>
                <p:cNvPr id="8" name="图片 7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61374" y="3370213"/>
                  <a:ext cx="1908689" cy="1908689"/>
                </a:xfrm>
                <a:prstGeom prst="rect">
                  <a:avLst/>
                </a:prstGeom>
              </p:spPr>
            </p:pic>
            <p:sp>
              <p:nvSpPr>
                <p:cNvPr id="9" name="椭圆 8"/>
                <p:cNvSpPr/>
                <p:nvPr/>
              </p:nvSpPr>
              <p:spPr>
                <a:xfrm>
                  <a:off x="3851917" y="4236351"/>
                  <a:ext cx="527601" cy="648072"/>
                </a:xfrm>
                <a:prstGeom prst="ellipse">
                  <a:avLst/>
                </a:prstGeom>
                <a:solidFill>
                  <a:srgbClr val="D8BA9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96318" y="4142728"/>
                <a:ext cx="884610" cy="884610"/>
              </a:xfrm>
              <a:prstGeom prst="rect">
                <a:avLst/>
              </a:prstGeom>
            </p:spPr>
          </p:pic>
        </p:grp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2989" y="2571750"/>
            <a:ext cx="1203598" cy="1203598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800331" y="72765"/>
            <a:ext cx="6232730" cy="14908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200" eaLnBrk="0" hangingPunct="0">
              <a:defRPr/>
            </a:pPr>
            <a:endParaRPr lang="zh-CN" altLang="en-US" sz="2400">
              <a:solidFill>
                <a:prstClr val="white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 1"/>
          <p:cNvSpPr>
            <a:spLocks noChangeArrowheads="1"/>
          </p:cNvSpPr>
          <p:nvPr/>
        </p:nvSpPr>
        <p:spPr bwMode="auto">
          <a:xfrm>
            <a:off x="2916246" y="126023"/>
            <a:ext cx="6004224" cy="1281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    小马跑到河边，刚刚抬起前蹄，松鼠又大叫起来：</a:t>
            </a:r>
            <a:endParaRPr lang="zh-CN" altLang="en-US" sz="32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4" name="组合 21"/>
          <p:cNvGrpSpPr/>
          <p:nvPr/>
        </p:nvGrpSpPr>
        <p:grpSpPr>
          <a:xfrm flipH="1">
            <a:off x="2232217" y="1826529"/>
            <a:ext cx="2994025" cy="687388"/>
            <a:chOff x="5986438" y="4097093"/>
            <a:chExt cx="2993297" cy="688292"/>
          </a:xfrm>
        </p:grpSpPr>
        <p:sp>
          <p:nvSpPr>
            <p:cNvPr id="15" name="对话气泡: 圆角矩形 14"/>
            <p:cNvSpPr/>
            <p:nvPr/>
          </p:nvSpPr>
          <p:spPr>
            <a:xfrm>
              <a:off x="5986438" y="4114579"/>
              <a:ext cx="2993297" cy="670806"/>
            </a:xfrm>
            <a:prstGeom prst="wedgeRoundRectCallout">
              <a:avLst>
                <a:gd name="adj1" fmla="val 59298"/>
                <a:gd name="adj2" fmla="val 14904"/>
                <a:gd name="adj3" fmla="val 16667"/>
              </a:avLst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6" name="文本框 2"/>
            <p:cNvSpPr txBox="1">
              <a:spLocks noChangeArrowheads="1"/>
            </p:cNvSpPr>
            <p:nvPr/>
          </p:nvSpPr>
          <p:spPr bwMode="auto">
            <a:xfrm>
              <a:off x="6116344" y="4097093"/>
              <a:ext cx="2786415" cy="669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en-US" sz="3600" b="1">
                  <a:solidFill>
                    <a:srgbClr val="99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让我试试吧！</a:t>
              </a:r>
              <a:endParaRPr lang="zh-CN" altLang="en-US" sz="3600" b="1">
                <a:solidFill>
                  <a:srgbClr val="9900FF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176587" y="3187620"/>
            <a:ext cx="4211638" cy="668337"/>
            <a:chOff x="2541723" y="4051700"/>
            <a:chExt cx="3981303" cy="668429"/>
          </a:xfrm>
        </p:grpSpPr>
        <p:sp>
          <p:nvSpPr>
            <p:cNvPr id="18" name="对话气泡: 圆角矩形 17"/>
            <p:cNvSpPr/>
            <p:nvPr/>
          </p:nvSpPr>
          <p:spPr>
            <a:xfrm>
              <a:off x="2541723" y="4051700"/>
              <a:ext cx="3981303" cy="668429"/>
            </a:xfrm>
            <a:prstGeom prst="wedgeRoundRectCallout">
              <a:avLst>
                <a:gd name="adj1" fmla="val -56200"/>
                <a:gd name="adj2" fmla="val 11056"/>
                <a:gd name="adj3" fmla="val 16667"/>
              </a:avLst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" name="文本框 2"/>
            <p:cNvSpPr txBox="1">
              <a:spLocks noChangeArrowheads="1"/>
            </p:cNvSpPr>
            <p:nvPr/>
          </p:nvSpPr>
          <p:spPr bwMode="auto">
            <a:xfrm>
              <a:off x="2582714" y="4062401"/>
              <a:ext cx="3899318" cy="62744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buFont typeface="Arial" panose="020B0604020202020204" pitchFamily="34" charset="0"/>
                <a:buNone/>
              </a:pPr>
              <a:r>
                <a:rPr lang="zh-CN" altLang="en-US" sz="3600" b="1">
                  <a:solidFill>
                    <a:srgbClr val="00B05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怎么？你不要命啦！</a:t>
              </a:r>
              <a:endParaRPr lang="zh-CN" altLang="en-US" sz="3600" b="1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custDataLst>
      <p:tags r:id="rId6"/>
    </p:custData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/>
      </p:pic>
      <p:grpSp>
        <p:nvGrpSpPr>
          <p:cNvPr id="8" name="组合 7"/>
          <p:cNvGrpSpPr/>
          <p:nvPr/>
        </p:nvGrpSpPr>
        <p:grpSpPr>
          <a:xfrm>
            <a:off x="-900608" y="1779662"/>
            <a:ext cx="2892479" cy="2757705"/>
            <a:chOff x="0" y="2380065"/>
            <a:chExt cx="2892479" cy="2757705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441107"/>
              <a:ext cx="2892479" cy="2696663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/>
          </p:nvGrpSpPr>
          <p:grpSpPr>
            <a:xfrm>
              <a:off x="323528" y="2380065"/>
              <a:ext cx="1908689" cy="1908689"/>
              <a:chOff x="3239376" y="3392752"/>
              <a:chExt cx="1908689" cy="1908689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3239376" y="3392752"/>
                <a:ext cx="1908689" cy="1908689"/>
                <a:chOff x="3161374" y="3370213"/>
                <a:chExt cx="1908689" cy="1908689"/>
              </a:xfrm>
            </p:grpSpPr>
            <p:pic>
              <p:nvPicPr>
                <p:cNvPr id="13" name="图片 12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61374" y="3370213"/>
                  <a:ext cx="1908689" cy="1908689"/>
                </a:xfrm>
                <a:prstGeom prst="rect">
                  <a:avLst/>
                </a:prstGeom>
              </p:spPr>
            </p:pic>
            <p:sp>
              <p:nvSpPr>
                <p:cNvPr id="14" name="椭圆 13"/>
                <p:cNvSpPr/>
                <p:nvPr/>
              </p:nvSpPr>
              <p:spPr>
                <a:xfrm>
                  <a:off x="3851917" y="4236351"/>
                  <a:ext cx="527601" cy="648072"/>
                </a:xfrm>
                <a:prstGeom prst="ellipse">
                  <a:avLst/>
                </a:prstGeom>
                <a:solidFill>
                  <a:srgbClr val="D8BA9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2" name="图片 1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96318" y="4142728"/>
                <a:ext cx="884610" cy="884610"/>
              </a:xfrm>
              <a:prstGeom prst="rect">
                <a:avLst/>
              </a:prstGeom>
            </p:spPr>
          </p:pic>
        </p:grp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rcRect l="-150"/>
          <a:stretch>
            <a:fillRect/>
          </a:stretch>
        </p:blipFill>
        <p:spPr>
          <a:xfrm>
            <a:off x="-577080" y="-1154170"/>
            <a:ext cx="10038257" cy="629767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1919869" y="2529638"/>
            <a:ext cx="2892479" cy="1908689"/>
            <a:chOff x="0" y="2380065"/>
            <a:chExt cx="2892479" cy="1908689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2441107"/>
              <a:ext cx="2892479" cy="1836399"/>
            </a:xfrm>
            <a:prstGeom prst="rect">
              <a:avLst/>
            </a:prstGeom>
          </p:spPr>
        </p:pic>
        <p:grpSp>
          <p:nvGrpSpPr>
            <p:cNvPr id="19" name="组合 18"/>
            <p:cNvGrpSpPr/>
            <p:nvPr/>
          </p:nvGrpSpPr>
          <p:grpSpPr>
            <a:xfrm>
              <a:off x="323528" y="2380065"/>
              <a:ext cx="1908689" cy="1908689"/>
              <a:chOff x="3239376" y="3392752"/>
              <a:chExt cx="1908689" cy="1908689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239376" y="3392752"/>
                <a:ext cx="1908689" cy="1908689"/>
                <a:chOff x="3161374" y="3370213"/>
                <a:chExt cx="1908689" cy="1908689"/>
              </a:xfrm>
            </p:grpSpPr>
            <p:pic>
              <p:nvPicPr>
                <p:cNvPr id="22" name="图片 21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61374" y="3370213"/>
                  <a:ext cx="1908689" cy="1908689"/>
                </a:xfrm>
                <a:prstGeom prst="rect">
                  <a:avLst/>
                </a:prstGeom>
              </p:spPr>
            </p:pic>
            <p:sp>
              <p:nvSpPr>
                <p:cNvPr id="23" name="椭圆 22"/>
                <p:cNvSpPr/>
                <p:nvPr/>
              </p:nvSpPr>
              <p:spPr>
                <a:xfrm>
                  <a:off x="3851917" y="4236351"/>
                  <a:ext cx="527601" cy="648072"/>
                </a:xfrm>
                <a:prstGeom prst="rect">
                  <a:avLst/>
                </a:prstGeom>
                <a:solidFill>
                  <a:srgbClr val="D8BA9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21" name="图片 2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96318" y="4142728"/>
                <a:ext cx="884610" cy="884610"/>
              </a:xfrm>
              <a:prstGeom prst="rect">
                <a:avLst/>
              </a:prstGeom>
            </p:spPr>
          </p:pic>
        </p:grpSp>
      </p:grpSp>
      <p:grpSp>
        <p:nvGrpSpPr>
          <p:cNvPr id="24" name="组合 23"/>
          <p:cNvGrpSpPr/>
          <p:nvPr/>
        </p:nvGrpSpPr>
        <p:grpSpPr>
          <a:xfrm>
            <a:off x="5863057" y="2130026"/>
            <a:ext cx="2892479" cy="2757705"/>
            <a:chOff x="0" y="2380065"/>
            <a:chExt cx="2892479" cy="2757705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441107"/>
              <a:ext cx="2892479" cy="2696663"/>
            </a:xfrm>
            <a:prstGeom prst="rect">
              <a:avLst/>
            </a:prstGeom>
          </p:spPr>
        </p:pic>
        <p:grpSp>
          <p:nvGrpSpPr>
            <p:cNvPr id="26" name="组合 25"/>
            <p:cNvGrpSpPr/>
            <p:nvPr/>
          </p:nvGrpSpPr>
          <p:grpSpPr>
            <a:xfrm>
              <a:off x="323528" y="2380065"/>
              <a:ext cx="1908689" cy="1908689"/>
              <a:chOff x="3239376" y="3392752"/>
              <a:chExt cx="1908689" cy="1908689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3239376" y="3392752"/>
                <a:ext cx="1908689" cy="1908689"/>
                <a:chOff x="3161374" y="3370213"/>
                <a:chExt cx="1908689" cy="1908689"/>
              </a:xfrm>
            </p:grpSpPr>
            <p:pic>
              <p:nvPicPr>
                <p:cNvPr id="29" name="图片 28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61374" y="3370213"/>
                  <a:ext cx="1908689" cy="1908689"/>
                </a:xfrm>
                <a:prstGeom prst="rect">
                  <a:avLst/>
                </a:prstGeom>
              </p:spPr>
            </p:pic>
            <p:sp>
              <p:nvSpPr>
                <p:cNvPr id="30" name="椭圆 29"/>
                <p:cNvSpPr/>
                <p:nvPr/>
              </p:nvSpPr>
              <p:spPr>
                <a:xfrm>
                  <a:off x="3851917" y="4236351"/>
                  <a:ext cx="527601" cy="648072"/>
                </a:xfrm>
                <a:prstGeom prst="ellipse">
                  <a:avLst/>
                </a:prstGeom>
                <a:solidFill>
                  <a:srgbClr val="D8BA9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96318" y="4142728"/>
                <a:ext cx="884610" cy="884610"/>
              </a:xfrm>
              <a:prstGeom prst="rect">
                <a:avLst/>
              </a:prstGeom>
            </p:spPr>
          </p:pic>
        </p:grpSp>
      </p:grpSp>
      <p:sp>
        <p:nvSpPr>
          <p:cNvPr id="31" name="矩形 30"/>
          <p:cNvSpPr/>
          <p:nvPr/>
        </p:nvSpPr>
        <p:spPr>
          <a:xfrm>
            <a:off x="222102" y="360457"/>
            <a:ext cx="5289112" cy="269666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200" eaLnBrk="0" hangingPunct="0">
              <a:defRPr/>
            </a:pPr>
            <a:endParaRPr lang="zh-CN" altLang="en-US" sz="2400">
              <a:solidFill>
                <a:prstClr val="white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矩形 1"/>
          <p:cNvSpPr>
            <a:spLocks noChangeArrowheads="1"/>
          </p:cNvSpPr>
          <p:nvPr/>
        </p:nvSpPr>
        <p:spPr bwMode="auto">
          <a:xfrm>
            <a:off x="343704" y="436037"/>
            <a:ext cx="5397751" cy="2562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    他下了河，小心地趟了过去。原来河水既不像老牛说的那样浅，也不像松鼠说的那样深。</a:t>
            </a:r>
            <a:endParaRPr lang="zh-CN" altLang="en-US" sz="32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3" name="组合 7"/>
          <p:cNvGrpSpPr/>
          <p:nvPr/>
        </p:nvGrpSpPr>
        <p:grpSpPr>
          <a:xfrm>
            <a:off x="1081068" y="4010863"/>
            <a:ext cx="6754913" cy="582295"/>
            <a:chOff x="9557" y="4672"/>
            <a:chExt cx="5889" cy="917"/>
          </a:xfrm>
          <a:solidFill>
            <a:srgbClr val="FFEBFF"/>
          </a:solidFill>
        </p:grpSpPr>
        <p:sp>
          <p:nvSpPr>
            <p:cNvPr id="34" name="圆角矩形标注 6"/>
            <p:cNvSpPr/>
            <p:nvPr/>
          </p:nvSpPr>
          <p:spPr>
            <a:xfrm>
              <a:off x="9557" y="4711"/>
              <a:ext cx="5889" cy="878"/>
            </a:xfrm>
            <a:prstGeom prst="wedgeRectCallout">
              <a:avLst>
                <a:gd name="adj1" fmla="val -13519"/>
                <a:gd name="adj2" fmla="val -43792"/>
              </a:avLst>
            </a:prstGeom>
            <a:solidFill>
              <a:schemeClr val="bg1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35" name="TextBox 8"/>
            <p:cNvSpPr txBox="1">
              <a:spLocks noChangeArrowheads="1"/>
            </p:cNvSpPr>
            <p:nvPr/>
          </p:nvSpPr>
          <p:spPr bwMode="auto">
            <a:xfrm>
              <a:off x="9565" y="4672"/>
              <a:ext cx="5876" cy="90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Arial" panose="020B0604020202020204" pitchFamily="34" charset="0"/>
                <a:buNone/>
                <a:defRPr/>
              </a:pPr>
              <a:r>
                <a:rPr lang="zh-CN" altLang="en-US" sz="3000" b="1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小马亲自尝试，终于知道了河水的深浅</a:t>
              </a:r>
              <a:endParaRPr lang="zh-CN" altLang="en-US" sz="30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custDataLst>
      <p:tags r:id="rId7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06 -4.93827E-07 L 0.36093 0.01327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038" y="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Group 47"/>
          <p:cNvGraphicFramePr>
            <a:graphicFrameLocks noGrp="1"/>
          </p:cNvGraphicFramePr>
          <p:nvPr/>
        </p:nvGraphicFramePr>
        <p:xfrm>
          <a:off x="887378" y="1778070"/>
          <a:ext cx="936626" cy="936626"/>
        </p:xfrm>
        <a:graphic>
          <a:graphicData uri="http://schemas.openxmlformats.org/drawingml/2006/table">
            <a:tbl>
              <a:tblPr/>
              <a:tblGrid>
                <a:gridCol w="468313"/>
                <a:gridCol w="468313"/>
              </a:tblGrid>
              <a:tr h="468313">
                <a:tc>
                  <a:txBody>
                    <a:bodyPr wrap="square"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71" marR="91471" marT="34322" marB="34322" vert="horz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71" marR="91471" marT="34322" marB="34322" vert="horz" horzOverflow="overflow">
                    <a:lnL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313">
                <a:tc>
                  <a:txBody>
                    <a:bodyPr wrap="square"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71" marR="91471" marT="34322" marB="34322" vert="horz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71" marR="91471" marT="34322" marB="34322" vert="horz" horzOverflow="overflow">
                    <a:lnL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Group 47"/>
          <p:cNvGraphicFramePr>
            <a:graphicFrameLocks noGrp="1"/>
          </p:cNvGraphicFramePr>
          <p:nvPr/>
        </p:nvGraphicFramePr>
        <p:xfrm>
          <a:off x="887378" y="3398907"/>
          <a:ext cx="936626" cy="936626"/>
        </p:xfrm>
        <a:graphic>
          <a:graphicData uri="http://schemas.openxmlformats.org/drawingml/2006/table">
            <a:tbl>
              <a:tblPr/>
              <a:tblGrid>
                <a:gridCol w="468313"/>
                <a:gridCol w="468313"/>
              </a:tblGrid>
              <a:tr h="468313">
                <a:tc>
                  <a:txBody>
                    <a:bodyPr wrap="square"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71" marR="91471" marT="34322" marB="34322" vert="horz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71" marR="91471" marT="34322" marB="34322" vert="horz" horzOverflow="overflow">
                    <a:lnL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313">
                <a:tc>
                  <a:txBody>
                    <a:bodyPr wrap="square"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71" marR="91471" marT="34322" marB="34322" vert="horz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71" marR="91471" marT="34322" marB="34322" vert="horz" horzOverflow="overflow">
                    <a:lnL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226745"/>
            <a:ext cx="2833975" cy="934798"/>
          </a:xfrm>
          <a:prstGeom prst="rect">
            <a:avLst/>
          </a:prstGeom>
        </p:spPr>
      </p:pic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4980063" y="1357884"/>
            <a:ext cx="137953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>
              <a:defRPr/>
            </a:pPr>
            <a:r>
              <a:rPr lang="zh-CN" altLang="en-US" sz="40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试验</a:t>
            </a:r>
            <a:endParaRPr lang="en-US" altLang="zh-CN" sz="40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defTabSz="685800">
              <a:defRPr/>
            </a:pPr>
            <a:r>
              <a:rPr lang="zh-CN" altLang="en-US" sz="40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试管</a:t>
            </a:r>
            <a:endParaRPr lang="en-US" altLang="zh-CN" sz="40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Box 38"/>
          <p:cNvSpPr txBox="1">
            <a:spLocks noChangeArrowheads="1"/>
          </p:cNvSpPr>
          <p:nvPr/>
        </p:nvSpPr>
        <p:spPr bwMode="auto">
          <a:xfrm>
            <a:off x="4781036" y="3261573"/>
            <a:ext cx="164002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>
              <a:defRPr/>
            </a:pPr>
            <a:r>
              <a:rPr lang="zh-CN" altLang="en-US" sz="36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马蹄</a:t>
            </a:r>
            <a:endParaRPr lang="en-US" altLang="zh-CN" sz="36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defTabSz="685800">
              <a:defRPr/>
            </a:pPr>
            <a:r>
              <a:rPr lang="zh-CN" altLang="en-US" sz="36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蹄子</a:t>
            </a:r>
            <a:endParaRPr lang="en-US" altLang="zh-CN" sz="36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905181" y="1240131"/>
            <a:ext cx="8050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>
              <a:defRPr/>
            </a:pPr>
            <a:r>
              <a:rPr lang="en-US" altLang="zh-CN" sz="3200" b="1" err="1">
                <a:solidFill>
                  <a:srgbClr val="034A4B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shì</a:t>
            </a:r>
            <a:endParaRPr lang="en-US" altLang="zh-CN" sz="3200" b="1">
              <a:solidFill>
                <a:srgbClr val="034A4B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051334" y="2840532"/>
            <a:ext cx="5982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>
              <a:defRPr/>
            </a:pPr>
            <a:r>
              <a:rPr lang="en-US" altLang="zh-CN" sz="3200" b="1" err="1">
                <a:solidFill>
                  <a:srgbClr val="034A4B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tí</a:t>
            </a:r>
            <a:endParaRPr lang="en-US" altLang="zh-CN" sz="3200" b="1">
              <a:solidFill>
                <a:srgbClr val="034A4B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10" name="组合 51"/>
          <p:cNvGrpSpPr/>
          <p:nvPr/>
        </p:nvGrpSpPr>
        <p:grpSpPr>
          <a:xfrm>
            <a:off x="6457852" y="1524455"/>
            <a:ext cx="2501006" cy="1088373"/>
            <a:chOff x="6380903" y="1335131"/>
            <a:chExt cx="2501250" cy="1089197"/>
          </a:xfrm>
        </p:grpSpPr>
        <p:sp>
          <p:nvSpPr>
            <p:cNvPr id="11" name="矩形 52"/>
            <p:cNvSpPr>
              <a:spLocks noChangeArrowheads="1"/>
            </p:cNvSpPr>
            <p:nvPr/>
          </p:nvSpPr>
          <p:spPr bwMode="auto">
            <a:xfrm>
              <a:off x="6380903" y="1777508"/>
              <a:ext cx="2501250" cy="646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685800">
                <a:defRPr/>
              </a:pPr>
              <a:r>
                <a:rPr lang="zh-CN" altLang="en-US" sz="3600" b="1">
                  <a:solidFill>
                    <a:srgbClr val="034A4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语言讲格式</a:t>
              </a:r>
              <a:endParaRPr lang="zh-CN" altLang="en-US" sz="36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67461" y="1335131"/>
              <a:ext cx="1475228" cy="400413"/>
            </a:xfrm>
            <a:prstGeom prst="rect">
              <a:avLst/>
            </a:prstGeom>
            <a:solidFill>
              <a:schemeClr val="bg1"/>
            </a:solidFill>
            <a:effectLst>
              <a:softEdge rad="63500"/>
            </a:effectLst>
          </p:spPr>
          <p:txBody>
            <a:bodyPr wrap="none">
              <a:spAutoFit/>
            </a:bodyPr>
            <a:lstStyle/>
            <a:p>
              <a:pPr algn="ctr" defTabSz="685800">
                <a:defRPr/>
              </a:pPr>
              <a:r>
                <a:rPr lang="zh-CN" altLang="en-US" sz="2000" b="1">
                  <a:solidFill>
                    <a:srgbClr val="034A4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识字巧方法</a:t>
              </a:r>
              <a:endParaRPr lang="en-US" altLang="zh-CN" sz="20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3" name="组合 56"/>
          <p:cNvGrpSpPr/>
          <p:nvPr/>
        </p:nvGrpSpPr>
        <p:grpSpPr>
          <a:xfrm>
            <a:off x="6393997" y="3359738"/>
            <a:ext cx="2717962" cy="934662"/>
            <a:chOff x="6237045" y="1224580"/>
            <a:chExt cx="2717406" cy="934458"/>
          </a:xfrm>
        </p:grpSpPr>
        <p:sp>
          <p:nvSpPr>
            <p:cNvPr id="14" name="矩形 57"/>
            <p:cNvSpPr>
              <a:spLocks noChangeArrowheads="1"/>
            </p:cNvSpPr>
            <p:nvPr/>
          </p:nvSpPr>
          <p:spPr bwMode="auto">
            <a:xfrm>
              <a:off x="6237045" y="1574391"/>
              <a:ext cx="2717406" cy="5846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685800">
                <a:defRPr/>
              </a:pPr>
              <a:r>
                <a:rPr lang="zh-CN" altLang="en-US" sz="3200" b="1">
                  <a:solidFill>
                    <a:srgbClr val="034A4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用脚逛帝都</a:t>
              </a:r>
              <a:endParaRPr lang="zh-CN" altLang="en-US" sz="32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858357" y="1224580"/>
              <a:ext cx="1474782" cy="400023"/>
            </a:xfrm>
            <a:prstGeom prst="rect">
              <a:avLst/>
            </a:prstGeom>
            <a:solidFill>
              <a:schemeClr val="bg1"/>
            </a:solidFill>
            <a:effectLst>
              <a:softEdge rad="63500"/>
            </a:effectLst>
          </p:spPr>
          <p:txBody>
            <a:bodyPr wrap="none">
              <a:spAutoFit/>
            </a:bodyPr>
            <a:lstStyle/>
            <a:p>
              <a:pPr algn="ctr" defTabSz="685800">
                <a:defRPr/>
              </a:pPr>
              <a:r>
                <a:rPr lang="zh-CN" altLang="en-US" sz="2000" b="1">
                  <a:solidFill>
                    <a:srgbClr val="034A4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识字巧方法</a:t>
              </a:r>
              <a:endParaRPr lang="en-US" altLang="zh-CN" sz="20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6" name="TextBox 24"/>
          <p:cNvSpPr txBox="1">
            <a:spLocks noChangeArrowheads="1"/>
          </p:cNvSpPr>
          <p:nvPr/>
        </p:nvSpPr>
        <p:spPr bwMode="auto">
          <a:xfrm>
            <a:off x="837784" y="1633566"/>
            <a:ext cx="989012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>
              <a:defRPr/>
            </a:pPr>
            <a:r>
              <a:rPr lang="zh-CN" altLang="en-US" sz="66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试</a:t>
            </a:r>
            <a:endParaRPr lang="en-US" altLang="zh-CN" sz="66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TextBox 26"/>
          <p:cNvSpPr txBox="1">
            <a:spLocks noChangeArrowheads="1"/>
          </p:cNvSpPr>
          <p:nvPr/>
        </p:nvSpPr>
        <p:spPr bwMode="auto">
          <a:xfrm>
            <a:off x="855949" y="3273071"/>
            <a:ext cx="989012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>
              <a:defRPr/>
            </a:pPr>
            <a:r>
              <a:rPr lang="zh-CN" altLang="en-US" sz="66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蹄</a:t>
            </a:r>
            <a:endParaRPr lang="en-US" altLang="zh-CN" sz="66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6383" y="1148747"/>
            <a:ext cx="1741715" cy="17417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517900" y="2936965"/>
            <a:ext cx="2024543" cy="202454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uiExpand="1" build="p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899592" y="1158557"/>
            <a:ext cx="7172325" cy="31260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你们同意他们的看法吗？说说自己的理由。</a:t>
            </a:r>
            <a:endParaRPr lang="zh-CN" altLang="en-US" sz="28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①河水既不像老牛说的那样浅，也不像松鼠说的那样深，所以老牛和松鼠对小马撒谎了。</a:t>
            </a:r>
            <a:endParaRPr lang="zh-CN" altLang="en-US" sz="28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②小马向很多人请教，是对的。</a:t>
            </a:r>
            <a:endParaRPr lang="zh-CN" altLang="en-US" sz="28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③别人的经验不一定可靠，得自己去尝试。</a:t>
            </a:r>
            <a:endParaRPr lang="zh-CN" altLang="en-US" sz="28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④什么事都要自己尝试，别人的话不可信。</a:t>
            </a:r>
            <a:endParaRPr lang="zh-CN" altLang="en-US" sz="28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231885"/>
            <a:ext cx="2804403" cy="926672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2"/>
          <p:cNvGrpSpPr/>
          <p:nvPr/>
        </p:nvGrpSpPr>
        <p:grpSpPr>
          <a:xfrm>
            <a:off x="0" y="0"/>
            <a:ext cx="9144000" cy="5140325"/>
            <a:chOff x="495571" y="317894"/>
            <a:chExt cx="9138947" cy="5141162"/>
          </a:xfrm>
        </p:grpSpPr>
        <p:pic>
          <p:nvPicPr>
            <p:cNvPr id="33796" name="图片 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5571" y="317894"/>
              <a:ext cx="9138947" cy="5141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797" name="TextBox 14"/>
            <p:cNvSpPr txBox="1">
              <a:spLocks noChangeArrowheads="1"/>
            </p:cNvSpPr>
            <p:nvPr/>
          </p:nvSpPr>
          <p:spPr bwMode="auto">
            <a:xfrm>
              <a:off x="662337" y="533810"/>
              <a:ext cx="8789513" cy="1239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 eaLnBrk="1" hangingPunct="1">
                <a:lnSpc>
                  <a:spcPct val="125000"/>
                </a:lnSpc>
                <a:buFont typeface="Arial" panose="020B0604020202020204" pitchFamily="34" charset="0"/>
                <a:buNone/>
              </a:pPr>
              <a:r>
                <a:rPr lang="zh-CN" altLang="en-US" sz="3200">
                  <a:latin typeface="楷体" panose="02010609060101010101" pitchFamily="49" charset="-122"/>
                  <a:ea typeface="楷体" panose="02010609060101010101" pitchFamily="49" charset="-122"/>
                </a:rPr>
                <a:t>    </a:t>
              </a:r>
              <a:r>
                <a:rPr lang="zh-CN" altLang="en-US" sz="3200" b="1">
                  <a:latin typeface="楷体" panose="02010609060101010101" pitchFamily="49" charset="-122"/>
                  <a:ea typeface="楷体" panose="02010609060101010101" pitchFamily="49" charset="-122"/>
                </a:rPr>
                <a:t>河水既不像老牛说的那样浅，也不像松鼠说的那样深，所以老牛和松鼠对小马撒谎了。 </a:t>
              </a:r>
              <a:endParaRPr lang="zh-CN" altLang="en-US" sz="32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spd="slow"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476250" y="2643758"/>
            <a:ext cx="8191500" cy="1989138"/>
          </a:xfrm>
          <a:prstGeom prst="rect">
            <a:avLst/>
          </a:prstGeom>
          <a:noFill/>
          <a:ln w="19050">
            <a:solidFill>
              <a:srgbClr val="FF9999"/>
            </a:solidFill>
            <a:prstDash val="dashDot"/>
            <a:rou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35000"/>
              </a:lnSpc>
              <a:buFont typeface="Arial" panose="020B0604020202020204" pitchFamily="34" charset="0"/>
              <a:buNone/>
              <a:defRPr/>
            </a:pPr>
            <a:r>
              <a:rPr lang="en-US" altLang="zh-CN" sz="32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32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小马既不像老牛那样高大，也不像松鼠那样矮小，所以河水既不像老牛说的那样浅，也不像松鼠说的那样深。</a:t>
            </a:r>
            <a:endParaRPr lang="zh-CN" altLang="en-US" sz="3200" b="1">
              <a:solidFill>
                <a:srgbClr val="FF006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7" name="图片 10"/>
          <p:cNvPicPr>
            <a:picLocks noChangeAspect="1" noChangeArrowheads="1"/>
          </p:cNvPicPr>
          <p:nvPr/>
        </p:nvPicPr>
        <p:blipFill>
          <a:blip r:embed="rId1"/>
          <a:srcRect l="51206" t="44180" r="5943" b="20016"/>
          <a:stretch>
            <a:fillRect/>
          </a:stretch>
        </p:blipFill>
        <p:spPr bwMode="auto">
          <a:xfrm flipH="1">
            <a:off x="1501006" y="1088827"/>
            <a:ext cx="1254368" cy="12381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图片 10"/>
          <p:cNvPicPr>
            <a:picLocks noChangeAspect="1" noChangeArrowheads="1"/>
          </p:cNvPicPr>
          <p:nvPr/>
        </p:nvPicPr>
        <p:blipFill>
          <a:blip r:embed="rId2"/>
          <a:srcRect t="12659" r="37854" b="28106"/>
          <a:stretch>
            <a:fillRect/>
          </a:stretch>
        </p:blipFill>
        <p:spPr bwMode="auto">
          <a:xfrm>
            <a:off x="3673234" y="855387"/>
            <a:ext cx="1292085" cy="14549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10"/>
          <p:cNvPicPr>
            <a:picLocks noChangeAspect="1" noChangeArrowheads="1"/>
          </p:cNvPicPr>
          <p:nvPr/>
        </p:nvPicPr>
        <p:blipFill>
          <a:blip r:embed="rId3"/>
          <a:srcRect l="46011"/>
          <a:stretch>
            <a:fillRect/>
          </a:stretch>
        </p:blipFill>
        <p:spPr bwMode="auto">
          <a:xfrm>
            <a:off x="5883179" y="742330"/>
            <a:ext cx="1925782" cy="15885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11" name="组合 10"/>
          <p:cNvGrpSpPr/>
          <p:nvPr/>
        </p:nvGrpSpPr>
        <p:grpSpPr>
          <a:xfrm>
            <a:off x="6012160" y="4012977"/>
            <a:ext cx="2114550" cy="749300"/>
            <a:chOff x="3058612" y="3516411"/>
            <a:chExt cx="2114206" cy="749704"/>
          </a:xfrm>
        </p:grpSpPr>
        <p:pic>
          <p:nvPicPr>
            <p:cNvPr id="34824" name="图片 1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20" t="11121" r="8244" b="65627"/>
            <a:stretch>
              <a:fillRect/>
            </a:stretch>
          </p:blipFill>
          <p:spPr bwMode="auto">
            <a:xfrm>
              <a:off x="3058612" y="3516411"/>
              <a:ext cx="2114206" cy="749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5" name="文本框 14"/>
            <p:cNvSpPr txBox="1">
              <a:spLocks noChangeArrowheads="1"/>
            </p:cNvSpPr>
            <p:nvPr/>
          </p:nvSpPr>
          <p:spPr bwMode="auto">
            <a:xfrm>
              <a:off x="3289633" y="3572153"/>
              <a:ext cx="1732791" cy="624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prstDash val="lgDashDot"/>
                  <a:rou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 eaLnBrk="1" hangingPunct="1">
                <a:lnSpc>
                  <a:spcPct val="135000"/>
                </a:lnSpc>
                <a:buFont typeface="Arial" panose="020B0604020202020204" pitchFamily="34" charset="0"/>
                <a:buNone/>
              </a:pPr>
              <a:r>
                <a:rPr lang="zh-CN" altLang="en-US" sz="3000" b="1">
                  <a:solidFill>
                    <a:srgbClr val="00B05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体型差异</a:t>
              </a:r>
              <a:endParaRPr lang="zh-CN" altLang="en-US" sz="3000" b="1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7"/>
          <p:cNvGrpSpPr/>
          <p:nvPr/>
        </p:nvGrpSpPr>
        <p:grpSpPr>
          <a:xfrm>
            <a:off x="1956303" y="1641729"/>
            <a:ext cx="1855021" cy="1805884"/>
            <a:chOff x="2437" y="2032"/>
            <a:chExt cx="1245" cy="1265"/>
          </a:xfrm>
        </p:grpSpPr>
        <p:sp>
          <p:nvSpPr>
            <p:cNvPr id="10" name="矩形 1"/>
            <p:cNvSpPr>
              <a:spLocks noChangeArrowheads="1"/>
            </p:cNvSpPr>
            <p:nvPr/>
          </p:nvSpPr>
          <p:spPr bwMode="auto">
            <a:xfrm>
              <a:off x="2437" y="2032"/>
              <a:ext cx="1245" cy="124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1" name="直接连接符 10"/>
            <p:cNvCxnSpPr>
              <a:cxnSpLocks noChangeShapeType="1"/>
              <a:stCxn id="10" idx="1"/>
              <a:endCxn id="10" idx="3"/>
            </p:cNvCxnSpPr>
            <p:nvPr/>
          </p:nvCxnSpPr>
          <p:spPr bwMode="auto">
            <a:xfrm>
              <a:off x="2437" y="2655"/>
              <a:ext cx="1245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1"/>
            <p:cNvCxnSpPr>
              <a:cxnSpLocks noChangeShapeType="1"/>
            </p:cNvCxnSpPr>
            <p:nvPr/>
          </p:nvCxnSpPr>
          <p:spPr bwMode="auto">
            <a:xfrm flipH="1">
              <a:off x="3060" y="2052"/>
              <a:ext cx="0" cy="124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3" name="TextBox 1"/>
          <p:cNvSpPr txBox="1"/>
          <p:nvPr/>
        </p:nvSpPr>
        <p:spPr>
          <a:xfrm>
            <a:off x="2047678" y="1506522"/>
            <a:ext cx="1428740" cy="200054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2400">
                <a:latin typeface="楷体" panose="02010609060101010101" pitchFamily="49" charset="-122"/>
                <a:ea typeface="楷体" panose="02010609060101010101" pitchFamily="49" charset="-122"/>
              </a:rPr>
              <a:t>既</a:t>
            </a:r>
            <a:endParaRPr lang="zh-CN" altLang="en-US" sz="1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720746" y="1082720"/>
            <a:ext cx="3529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err="1"/>
              <a:t>jì</a:t>
            </a:r>
            <a:endParaRPr lang="zh-CN" altLang="en-US" sz="2800"/>
          </a:p>
        </p:txBody>
      </p:sp>
      <p:sp>
        <p:nvSpPr>
          <p:cNvPr id="16" name="文本框 15"/>
          <p:cNvSpPr txBox="1"/>
          <p:nvPr/>
        </p:nvSpPr>
        <p:spPr>
          <a:xfrm>
            <a:off x="555361" y="3749828"/>
            <a:ext cx="3855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组词：既然 既高且大</a:t>
            </a:r>
            <a:endParaRPr lang="zh-CN" altLang="en-US" sz="24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55362" y="4247282"/>
            <a:ext cx="6138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造句：既然有空</a:t>
            </a:r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就享受一下音乐吧。</a:t>
            </a:r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7802" y="-1304210"/>
            <a:ext cx="2232248" cy="2592288"/>
            <a:chOff x="-36512" y="-1145386"/>
            <a:chExt cx="2232248" cy="2592288"/>
          </a:xfrm>
        </p:grpSpPr>
        <p:grpSp>
          <p:nvGrpSpPr>
            <p:cNvPr id="21" name="组合 20"/>
            <p:cNvGrpSpPr/>
            <p:nvPr/>
          </p:nvGrpSpPr>
          <p:grpSpPr>
            <a:xfrm>
              <a:off x="-36512" y="-1145386"/>
              <a:ext cx="2232248" cy="2592288"/>
              <a:chOff x="1019927" y="-1562345"/>
              <a:chExt cx="2650321" cy="3124689"/>
            </a:xfrm>
          </p:grpSpPr>
          <p:pic>
            <p:nvPicPr>
              <p:cNvPr id="23" name="Picture 2" descr="xiao"/>
              <p:cNvPicPr>
                <a:picLocks noChangeAspect="1" noChangeArrowheads="1"/>
              </p:cNvPicPr>
              <p:nvPr/>
            </p:nvPicPr>
            <p:blipFill>
              <a:blip r:embed="rId1"/>
              <a:stretch>
                <a:fillRect/>
              </a:stretch>
            </p:blipFill>
            <p:spPr bwMode="auto">
              <a:xfrm>
                <a:off x="1019927" y="-1562345"/>
                <a:ext cx="2650321" cy="31246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4" name="矩形 23"/>
              <p:cNvSpPr/>
              <p:nvPr/>
            </p:nvSpPr>
            <p:spPr>
              <a:xfrm>
                <a:off x="2926806" y="811763"/>
                <a:ext cx="354563" cy="401217"/>
              </a:xfrm>
              <a:prstGeom prst="rect">
                <a:avLst/>
              </a:prstGeom>
              <a:solidFill>
                <a:srgbClr val="32B2B2"/>
              </a:solidFill>
              <a:ln>
                <a:solidFill>
                  <a:srgbClr val="32B2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 rot="21134852">
              <a:off x="1463460" y="813076"/>
              <a:ext cx="2122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认</a:t>
              </a:r>
              <a:endParaRPr lang="zh-CN" altLang="en-US" sz="24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067" y="215898"/>
            <a:ext cx="5143500" cy="51435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矩形 2"/>
          <p:cNvSpPr>
            <a:spLocks noChangeArrowheads="1"/>
          </p:cNvSpPr>
          <p:nvPr/>
        </p:nvSpPr>
        <p:spPr bwMode="auto">
          <a:xfrm>
            <a:off x="467544" y="555526"/>
            <a:ext cx="7600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◇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  <a:sym typeface="宋体" panose="02010600030101010101" pitchFamily="2" charset="-122"/>
              </a:rPr>
              <a:t>小马向很多人请教，是对的。</a:t>
            </a:r>
            <a:endParaRPr lang="en-US" altLang="zh-CN" sz="32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35000" y="1385888"/>
            <a:ext cx="7951788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不同意。向人请教本身是对的，但请教的对象不可毫无选择，比如小马应该向体型与自己差不多的动物请教河水的深浅，这样才具有参考的价值，而松鼠与小马在体型上相差悬殊，请教松鼠则没有必要。</a:t>
            </a:r>
            <a:endParaRPr lang="zh-CN" altLang="en-US" sz="3200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sym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矩形 2"/>
          <p:cNvSpPr>
            <a:spLocks noChangeArrowheads="1"/>
          </p:cNvSpPr>
          <p:nvPr/>
        </p:nvSpPr>
        <p:spPr bwMode="auto">
          <a:xfrm>
            <a:off x="579438" y="819150"/>
            <a:ext cx="7848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◇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别人的经验不一定可靠，得自己去尝试。</a:t>
            </a:r>
            <a:endParaRPr lang="en-US" altLang="zh-CN" sz="32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88963" y="1692275"/>
            <a:ext cx="8126412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3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同意。别人的经验是别人通过尝试得出来的，适用于别人，不一定适用于自己。只有自己去尝试，才能得出正确、可靠的经验。</a:t>
            </a:r>
            <a:endParaRPr lang="zh-CN" altLang="en-US" sz="3400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sym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矩形 2"/>
          <p:cNvSpPr>
            <a:spLocks noChangeArrowheads="1"/>
          </p:cNvSpPr>
          <p:nvPr/>
        </p:nvSpPr>
        <p:spPr bwMode="auto">
          <a:xfrm>
            <a:off x="399591" y="771550"/>
            <a:ext cx="8220075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◇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什么事都要自己去尝试，别人的话不可信。</a:t>
            </a:r>
            <a:endParaRPr lang="en-US" altLang="zh-CN" sz="32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70829" y="1707654"/>
            <a:ext cx="8426450" cy="3225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3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不同意。有时候，别人的话会给我们指明捷径，相对自己来说正确的、有用的话可信，学过的课文</a:t>
            </a:r>
            <a:r>
              <a:rPr lang="en-US" altLang="zh-CN" sz="3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3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寒号鸟</a:t>
            </a:r>
            <a:r>
              <a:rPr lang="en-US" altLang="zh-CN" sz="3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》《</a:t>
            </a:r>
            <a:r>
              <a:rPr lang="zh-CN" altLang="en-US" sz="3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亡羊补牢</a:t>
            </a:r>
            <a:r>
              <a:rPr lang="en-US" altLang="zh-CN" sz="3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3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，这些故事都是告诉人们要听别人的劝告。</a:t>
            </a:r>
            <a:endParaRPr lang="zh-CN" altLang="en-US" sz="3400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zh-CN" altLang="en-US" sz="3400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sym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矩形 1"/>
          <p:cNvSpPr>
            <a:spLocks noChangeArrowheads="1"/>
          </p:cNvSpPr>
          <p:nvPr/>
        </p:nvSpPr>
        <p:spPr bwMode="auto">
          <a:xfrm>
            <a:off x="1403648" y="2067694"/>
            <a:ext cx="6913417" cy="215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马棚  愿意  磨坊  驮  挡住  </a:t>
            </a:r>
            <a:endParaRPr lang="en-US" altLang="zh-CN" sz="36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为难突然  拦住  吃惊  难为情  </a:t>
            </a:r>
            <a:endParaRPr lang="en-US" altLang="zh-CN" sz="36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动脑筋 小心</a:t>
            </a:r>
            <a:endParaRPr lang="zh-CN" altLang="en-US" sz="36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2919" y="1203598"/>
            <a:ext cx="7900045" cy="604781"/>
          </a:xfrm>
          <a:prstGeom prst="rect">
            <a:avLst/>
          </a:prstGeom>
          <a:noFill/>
          <a:ln>
            <a:noFill/>
          </a:ln>
          <a:effectLst>
            <a:softEdge rad="88900"/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3200" b="1">
                <a:latin typeface="+mn-ea"/>
              </a:rPr>
              <a:t>出示讲故事小帮手，读一读。</a:t>
            </a:r>
            <a:endParaRPr lang="en-US" altLang="zh-CN" sz="32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195486"/>
            <a:ext cx="2801334" cy="924031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5" descr="水中的动物&#10;&#10;描述已自动生成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4" r="-4" b="-4"/>
          <a:stretch>
            <a:fillRect/>
          </a:stretch>
        </p:blipFill>
        <p:spPr bwMode="auto">
          <a:xfrm>
            <a:off x="4610539" y="2397725"/>
            <a:ext cx="4256173" cy="2263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 descr="水中的牛在草地上&#10;&#10;描述已自动生成"/>
          <p:cNvPicPr>
            <a:picLocks noChangeAspect="1"/>
          </p:cNvPicPr>
          <p:nvPr/>
        </p:nvPicPr>
        <p:blipFill>
          <a:blip r:embed="rId2"/>
          <a:srcRect l="1798" r="7683" b="-4"/>
          <a:stretch>
            <a:fillRect/>
          </a:stretch>
        </p:blipFill>
        <p:spPr>
          <a:xfrm>
            <a:off x="4610539" y="476191"/>
            <a:ext cx="4256173" cy="2092466"/>
          </a:xfrm>
          <a:prstGeom prst="rect">
            <a:avLst/>
          </a:prstGeom>
        </p:spPr>
      </p:pic>
      <p:pic>
        <p:nvPicPr>
          <p:cNvPr id="4" name="图片 3" descr="水里有一只狗&#10;&#10;中度可信度描述已自动生成"/>
          <p:cNvPicPr>
            <a:picLocks noChangeAspect="1" noChangeArrowheads="1"/>
          </p:cNvPicPr>
          <p:nvPr/>
        </p:nvPicPr>
        <p:blipFill>
          <a:blip r:embed="rId3"/>
          <a:srcRect t="10707" r="-1" b="-1"/>
          <a:stretch>
            <a:fillRect/>
          </a:stretch>
        </p:blipFill>
        <p:spPr bwMode="auto">
          <a:xfrm>
            <a:off x="171811" y="267494"/>
            <a:ext cx="4256173" cy="4484306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</p:spTree>
    <p:custDataLst>
      <p:tags r:id="rId4"/>
    </p:custData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Group 47"/>
          <p:cNvGraphicFramePr>
            <a:graphicFrameLocks noGrp="1"/>
          </p:cNvGraphicFramePr>
          <p:nvPr/>
        </p:nvGraphicFramePr>
        <p:xfrm>
          <a:off x="887378" y="1778070"/>
          <a:ext cx="936626" cy="936626"/>
        </p:xfrm>
        <a:graphic>
          <a:graphicData uri="http://schemas.openxmlformats.org/drawingml/2006/table">
            <a:tbl>
              <a:tblPr/>
              <a:tblGrid>
                <a:gridCol w="468313"/>
                <a:gridCol w="468313"/>
              </a:tblGrid>
              <a:tr h="468313">
                <a:tc>
                  <a:txBody>
                    <a:bodyPr wrap="square"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71" marR="91471" marT="34322" marB="34322" vert="horz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71" marR="91471" marT="34322" marB="34322" vert="horz" horzOverflow="overflow">
                    <a:lnL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313">
                <a:tc>
                  <a:txBody>
                    <a:bodyPr wrap="square"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71" marR="91471" marT="34322" marB="34322" vert="horz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71" marR="91471" marT="34322" marB="34322" vert="horz" horzOverflow="overflow">
                    <a:lnL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Group 47"/>
          <p:cNvGraphicFramePr>
            <a:graphicFrameLocks noGrp="1"/>
          </p:cNvGraphicFramePr>
          <p:nvPr/>
        </p:nvGraphicFramePr>
        <p:xfrm>
          <a:off x="887378" y="3398907"/>
          <a:ext cx="936626" cy="936626"/>
        </p:xfrm>
        <a:graphic>
          <a:graphicData uri="http://schemas.openxmlformats.org/drawingml/2006/table">
            <a:tbl>
              <a:tblPr/>
              <a:tblGrid>
                <a:gridCol w="468313"/>
                <a:gridCol w="468313"/>
              </a:tblGrid>
              <a:tr h="468313">
                <a:tc>
                  <a:txBody>
                    <a:bodyPr wrap="square"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71" marR="91471" marT="34322" marB="34322" vert="horz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71" marR="91471" marT="34322" marB="34322" vert="horz" horzOverflow="overflow">
                    <a:lnL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313">
                <a:tc>
                  <a:txBody>
                    <a:bodyPr wrap="square"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71" marR="91471" marT="34322" marB="34322" vert="horz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1471" marR="91471" marT="34322" marB="34322" vert="horz" horzOverflow="overflow">
                    <a:lnL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371" y="78066"/>
            <a:ext cx="3371679" cy="1112162"/>
          </a:xfrm>
          <a:prstGeom prst="rect">
            <a:avLst/>
          </a:prstGeom>
        </p:spPr>
      </p:pic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4855745" y="1471642"/>
            <a:ext cx="137953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>
              <a:defRPr/>
            </a:pPr>
            <a:r>
              <a:rPr lang="zh-CN" altLang="en-US" sz="40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叹息</a:t>
            </a:r>
            <a:endParaRPr lang="en-US" altLang="zh-CN" sz="40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defTabSz="685800">
              <a:defRPr/>
            </a:pPr>
            <a:r>
              <a:rPr lang="zh-CN" altLang="en-US" sz="40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叹气</a:t>
            </a:r>
            <a:endParaRPr lang="en-US" altLang="zh-CN" sz="40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Box 38"/>
          <p:cNvSpPr txBox="1">
            <a:spLocks noChangeArrowheads="1"/>
          </p:cNvSpPr>
          <p:nvPr/>
        </p:nvSpPr>
        <p:spPr bwMode="auto">
          <a:xfrm>
            <a:off x="4577849" y="3338670"/>
            <a:ext cx="408257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>
              <a:defRPr/>
            </a:pPr>
            <a:r>
              <a:rPr lang="zh-CN" altLang="en-US" sz="36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（叹词，表示伤感或惋惜）</a:t>
            </a:r>
            <a:endParaRPr lang="en-US" altLang="zh-CN" sz="36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905181" y="1240131"/>
            <a:ext cx="8050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>
              <a:defRPr/>
            </a:pPr>
            <a:r>
              <a:rPr lang="en-US" altLang="zh-CN" sz="3200" b="1" err="1">
                <a:solidFill>
                  <a:srgbClr val="034A4B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tàn</a:t>
            </a:r>
            <a:endParaRPr lang="en-US" altLang="zh-CN" sz="3200" b="1">
              <a:solidFill>
                <a:srgbClr val="034A4B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094563" y="2842697"/>
            <a:ext cx="5982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>
              <a:defRPr/>
            </a:pPr>
            <a:r>
              <a:rPr lang="en-US" altLang="zh-CN" sz="3200" b="1" err="1">
                <a:solidFill>
                  <a:srgbClr val="034A4B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ài</a:t>
            </a:r>
            <a:endParaRPr lang="en-US" altLang="zh-CN" sz="3200" b="1">
              <a:solidFill>
                <a:srgbClr val="034A4B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10" name="组合 51"/>
          <p:cNvGrpSpPr/>
          <p:nvPr/>
        </p:nvGrpSpPr>
        <p:grpSpPr>
          <a:xfrm>
            <a:off x="6326402" y="1532957"/>
            <a:ext cx="2501006" cy="1113445"/>
            <a:chOff x="6307312" y="1335131"/>
            <a:chExt cx="2501250" cy="1114288"/>
          </a:xfrm>
        </p:grpSpPr>
        <p:sp>
          <p:nvSpPr>
            <p:cNvPr id="11" name="矩形 52"/>
            <p:cNvSpPr>
              <a:spLocks noChangeArrowheads="1"/>
            </p:cNvSpPr>
            <p:nvPr/>
          </p:nvSpPr>
          <p:spPr bwMode="auto">
            <a:xfrm>
              <a:off x="6307312" y="1802599"/>
              <a:ext cx="2501250" cy="646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685800">
                <a:defRPr/>
              </a:pPr>
              <a:r>
                <a:rPr lang="zh-CN" altLang="en-US" sz="3600" b="1">
                  <a:solidFill>
                    <a:srgbClr val="034A4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又是一张口</a:t>
              </a:r>
              <a:endParaRPr lang="zh-CN" altLang="en-US" sz="36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67461" y="1335131"/>
              <a:ext cx="1475228" cy="400413"/>
            </a:xfrm>
            <a:prstGeom prst="rect">
              <a:avLst/>
            </a:prstGeom>
            <a:solidFill>
              <a:schemeClr val="bg1"/>
            </a:solidFill>
            <a:effectLst>
              <a:softEdge rad="63500"/>
            </a:effectLst>
          </p:spPr>
          <p:txBody>
            <a:bodyPr wrap="none">
              <a:spAutoFit/>
            </a:bodyPr>
            <a:lstStyle/>
            <a:p>
              <a:pPr algn="ctr" defTabSz="685800">
                <a:defRPr/>
              </a:pPr>
              <a:r>
                <a:rPr lang="zh-CN" altLang="en-US" sz="2000" b="1">
                  <a:solidFill>
                    <a:srgbClr val="034A4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识字巧方法</a:t>
              </a:r>
              <a:endParaRPr lang="en-US" altLang="zh-CN" sz="20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6" name="TextBox 24"/>
          <p:cNvSpPr txBox="1">
            <a:spLocks noChangeArrowheads="1"/>
          </p:cNvSpPr>
          <p:nvPr/>
        </p:nvSpPr>
        <p:spPr bwMode="auto">
          <a:xfrm>
            <a:off x="837784" y="1633566"/>
            <a:ext cx="989012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>
              <a:defRPr/>
            </a:pPr>
            <a:r>
              <a:rPr lang="zh-CN" altLang="en-US" sz="66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叹</a:t>
            </a:r>
            <a:endParaRPr lang="en-US" altLang="zh-CN" sz="66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TextBox 26"/>
          <p:cNvSpPr txBox="1">
            <a:spLocks noChangeArrowheads="1"/>
          </p:cNvSpPr>
          <p:nvPr/>
        </p:nvSpPr>
        <p:spPr bwMode="auto">
          <a:xfrm>
            <a:off x="855949" y="3273071"/>
            <a:ext cx="989012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>
              <a:defRPr/>
            </a:pPr>
            <a:r>
              <a:rPr lang="zh-CN" altLang="en-US" sz="66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唉</a:t>
            </a:r>
            <a:endParaRPr lang="en-US" altLang="zh-CN" sz="66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62817" y="1344418"/>
            <a:ext cx="1741715" cy="17417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451138" y="2956211"/>
            <a:ext cx="1741715" cy="17417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build="p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0057" y="123478"/>
            <a:ext cx="2457996" cy="3476876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1018980"/>
            <a:ext cx="2160240" cy="2160240"/>
          </a:xfrm>
          <a:prstGeom prst="rect">
            <a:avLst/>
          </a:prstGeom>
        </p:spPr>
      </p:pic>
      <p:sp>
        <p:nvSpPr>
          <p:cNvPr id="27" name="TextBox 9"/>
          <p:cNvSpPr txBox="1">
            <a:spLocks noChangeArrowheads="1"/>
          </p:cNvSpPr>
          <p:nvPr/>
        </p:nvSpPr>
        <p:spPr bwMode="auto">
          <a:xfrm>
            <a:off x="328300" y="2638051"/>
            <a:ext cx="252822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defRPr/>
            </a:pPr>
            <a:r>
              <a:rPr lang="zh-CN" altLang="en-US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结构：左右结构</a:t>
            </a:r>
            <a:endParaRPr lang="zh-CN" altLang="en-US" sz="21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TextBox 10"/>
          <p:cNvSpPr txBox="1">
            <a:spLocks noChangeArrowheads="1"/>
          </p:cNvSpPr>
          <p:nvPr/>
        </p:nvSpPr>
        <p:spPr bwMode="auto">
          <a:xfrm>
            <a:off x="319452" y="3542168"/>
            <a:ext cx="274053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defRPr/>
            </a:pPr>
            <a:r>
              <a:rPr lang="zh-CN" altLang="en-US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组词：应该 不该</a:t>
            </a:r>
            <a:endParaRPr lang="zh-CN" altLang="en-US" sz="21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TextBox 11"/>
          <p:cNvSpPr txBox="1">
            <a:spLocks noChangeArrowheads="1"/>
          </p:cNvSpPr>
          <p:nvPr/>
        </p:nvSpPr>
        <p:spPr bwMode="auto">
          <a:xfrm>
            <a:off x="328300" y="4022890"/>
            <a:ext cx="531030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defRPr/>
            </a:pPr>
            <a:r>
              <a:rPr lang="zh-CN" altLang="en-US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造句：我们不能只顾自己，</a:t>
            </a:r>
            <a:endParaRPr lang="en-US" altLang="zh-CN" sz="21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defTabSz="914400" eaLnBrk="1" hangingPunct="1">
              <a:defRPr/>
            </a:pPr>
            <a:r>
              <a:rPr lang="en-US" altLang="zh-CN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应该考虑其他人的感受。</a:t>
            </a:r>
            <a:endParaRPr lang="zh-CN" altLang="en-US" sz="21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0" name="Picture 2" descr="xiao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28300" y="-912683"/>
            <a:ext cx="1987741" cy="234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12"/>
          <p:cNvSpPr txBox="1">
            <a:spLocks noChangeArrowheads="1"/>
          </p:cNvSpPr>
          <p:nvPr/>
        </p:nvSpPr>
        <p:spPr bwMode="auto">
          <a:xfrm>
            <a:off x="315043" y="3090110"/>
            <a:ext cx="288448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lang="zh-CN" altLang="en-US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音序</a:t>
            </a:r>
            <a:r>
              <a:rPr lang="en-US" altLang="zh-CN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G </a:t>
            </a:r>
            <a:r>
              <a:rPr lang="zh-CN" altLang="en-US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部首：讠</a:t>
            </a:r>
            <a:endParaRPr lang="zh-CN" altLang="en-US" sz="21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15485" y="434205"/>
            <a:ext cx="71334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err="1"/>
              <a:t>gāi</a:t>
            </a:r>
            <a:endParaRPr lang="zh-CN" altLang="en-US" sz="3200"/>
          </a:p>
        </p:txBody>
      </p:sp>
      <p:grpSp>
        <p:nvGrpSpPr>
          <p:cNvPr id="4" name="组合 3"/>
          <p:cNvGrpSpPr/>
          <p:nvPr/>
        </p:nvGrpSpPr>
        <p:grpSpPr>
          <a:xfrm>
            <a:off x="4528358" y="3402218"/>
            <a:ext cx="4271600" cy="1318621"/>
            <a:chOff x="376630" y="1233465"/>
            <a:chExt cx="8714286" cy="290414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rcRect t="49742" r="50000"/>
            <a:stretch>
              <a:fillRect/>
            </a:stretch>
          </p:blipFill>
          <p:spPr>
            <a:xfrm>
              <a:off x="376630" y="2687304"/>
              <a:ext cx="4357143" cy="1450307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/>
            <a:srcRect l="108" t="-1657" r="-108" b="49638"/>
            <a:stretch>
              <a:fillRect/>
            </a:stretch>
          </p:blipFill>
          <p:spPr>
            <a:xfrm>
              <a:off x="376630" y="1233465"/>
              <a:ext cx="8714286" cy="1501136"/>
            </a:xfrm>
            <a:prstGeom prst="rect">
              <a:avLst/>
            </a:prstGeom>
          </p:spPr>
        </p:pic>
      </p:grpSp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1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1070" y="174331"/>
            <a:ext cx="3465106" cy="3465106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1110808"/>
            <a:ext cx="2160240" cy="2160240"/>
          </a:xfrm>
          <a:prstGeom prst="rect">
            <a:avLst/>
          </a:prstGeom>
        </p:spPr>
      </p:pic>
      <p:sp>
        <p:nvSpPr>
          <p:cNvPr id="27" name="TextBox 9"/>
          <p:cNvSpPr txBox="1">
            <a:spLocks noChangeArrowheads="1"/>
          </p:cNvSpPr>
          <p:nvPr/>
        </p:nvSpPr>
        <p:spPr bwMode="auto">
          <a:xfrm>
            <a:off x="328300" y="2944922"/>
            <a:ext cx="252822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defRPr/>
            </a:pPr>
            <a:r>
              <a:rPr lang="zh-CN" altLang="en-US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结构：左右结构</a:t>
            </a:r>
            <a:endParaRPr lang="zh-CN" altLang="en-US" sz="21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TextBox 10"/>
          <p:cNvSpPr txBox="1">
            <a:spLocks noChangeArrowheads="1"/>
          </p:cNvSpPr>
          <p:nvPr/>
        </p:nvSpPr>
        <p:spPr bwMode="auto">
          <a:xfrm>
            <a:off x="319452" y="3849039"/>
            <a:ext cx="274053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defRPr/>
            </a:pPr>
            <a:r>
              <a:rPr lang="zh-CN" altLang="en-US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组词：立刻 刻苦</a:t>
            </a:r>
            <a:endParaRPr lang="zh-CN" altLang="en-US" sz="21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TextBox 11"/>
          <p:cNvSpPr txBox="1">
            <a:spLocks noChangeArrowheads="1"/>
          </p:cNvSpPr>
          <p:nvPr/>
        </p:nvSpPr>
        <p:spPr bwMode="auto">
          <a:xfrm>
            <a:off x="328300" y="4329761"/>
            <a:ext cx="531030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defRPr/>
            </a:pPr>
            <a:r>
              <a:rPr lang="zh-CN" altLang="en-US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造句：这个南瓜灯是小明精心雕刻的。</a:t>
            </a:r>
            <a:endParaRPr lang="zh-CN" altLang="en-US" sz="21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0" name="Picture 2" descr="xiao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28300" y="-912683"/>
            <a:ext cx="1987741" cy="234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12"/>
          <p:cNvSpPr txBox="1">
            <a:spLocks noChangeArrowheads="1"/>
          </p:cNvSpPr>
          <p:nvPr/>
        </p:nvSpPr>
        <p:spPr bwMode="auto">
          <a:xfrm>
            <a:off x="315043" y="3396981"/>
            <a:ext cx="288448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lang="zh-CN" altLang="en-US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音序</a:t>
            </a:r>
            <a:r>
              <a:rPr lang="en-US" altLang="zh-CN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K </a:t>
            </a:r>
            <a:r>
              <a:rPr lang="zh-CN" altLang="en-US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部首：刂</a:t>
            </a:r>
            <a:endParaRPr lang="zh-CN" altLang="en-US" sz="21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20272" y="310589"/>
            <a:ext cx="726244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/>
          </a:p>
          <a:p>
            <a:r>
              <a:rPr lang="en-US" altLang="zh-CN" sz="2800" err="1"/>
              <a:t>kè</a:t>
            </a:r>
            <a:endParaRPr lang="zh-CN" altLang="en-US" sz="2800"/>
          </a:p>
        </p:txBody>
      </p:sp>
      <p:grpSp>
        <p:nvGrpSpPr>
          <p:cNvPr id="4" name="组合 3"/>
          <p:cNvGrpSpPr/>
          <p:nvPr/>
        </p:nvGrpSpPr>
        <p:grpSpPr>
          <a:xfrm>
            <a:off x="5015513" y="3593467"/>
            <a:ext cx="3772695" cy="1163470"/>
            <a:chOff x="367257" y="1281293"/>
            <a:chExt cx="8714286" cy="2885975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rcRect t="48974" r="50000"/>
            <a:stretch>
              <a:fillRect/>
            </a:stretch>
          </p:blipFill>
          <p:spPr>
            <a:xfrm>
              <a:off x="367257" y="2694794"/>
              <a:ext cx="4357143" cy="1472474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/>
            <a:srcRect b="48974"/>
            <a:stretch>
              <a:fillRect/>
            </a:stretch>
          </p:blipFill>
          <p:spPr>
            <a:xfrm>
              <a:off x="367257" y="1281293"/>
              <a:ext cx="8714286" cy="1472473"/>
            </a:xfrm>
            <a:prstGeom prst="rect">
              <a:avLst/>
            </a:prstGeom>
          </p:spPr>
        </p:pic>
      </p:grpSp>
      <p:pic>
        <p:nvPicPr>
          <p:cNvPr id="32" name="New 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10464800" y="12636500"/>
            <a:ext cx="355600" cy="266700"/>
          </a:xfrm>
          <a:prstGeom prst="cube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1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9617" y="221440"/>
            <a:ext cx="3465106" cy="3465106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192" y="1167011"/>
            <a:ext cx="2160240" cy="2160240"/>
          </a:xfrm>
          <a:prstGeom prst="rect">
            <a:avLst/>
          </a:prstGeom>
        </p:spPr>
      </p:pic>
      <p:sp>
        <p:nvSpPr>
          <p:cNvPr id="27" name="TextBox 9"/>
          <p:cNvSpPr txBox="1">
            <a:spLocks noChangeArrowheads="1"/>
          </p:cNvSpPr>
          <p:nvPr/>
        </p:nvSpPr>
        <p:spPr bwMode="auto">
          <a:xfrm>
            <a:off x="377786" y="2808550"/>
            <a:ext cx="252822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defRPr/>
            </a:pPr>
            <a:r>
              <a:rPr lang="zh-CN" altLang="en-US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结构：左右结构</a:t>
            </a:r>
            <a:endParaRPr lang="zh-CN" altLang="en-US" sz="21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TextBox 10"/>
          <p:cNvSpPr txBox="1">
            <a:spLocks noChangeArrowheads="1"/>
          </p:cNvSpPr>
          <p:nvPr/>
        </p:nvSpPr>
        <p:spPr bwMode="auto">
          <a:xfrm>
            <a:off x="368938" y="3712667"/>
            <a:ext cx="274053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defRPr/>
            </a:pPr>
            <a:r>
              <a:rPr lang="zh-CN" altLang="en-US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组词：掉队 扔掉</a:t>
            </a:r>
            <a:endParaRPr lang="zh-CN" altLang="en-US" sz="21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TextBox 11"/>
          <p:cNvSpPr txBox="1">
            <a:spLocks noChangeArrowheads="1"/>
          </p:cNvSpPr>
          <p:nvPr/>
        </p:nvSpPr>
        <p:spPr bwMode="auto">
          <a:xfrm>
            <a:off x="377786" y="4193389"/>
            <a:ext cx="531030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defRPr/>
            </a:pPr>
            <a:r>
              <a:rPr lang="zh-CN" altLang="en-US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造句：今天，白菜掉价了。</a:t>
            </a:r>
            <a:endParaRPr lang="zh-CN" altLang="en-US" sz="21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0" name="Picture 2" descr="xiao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28300" y="-912683"/>
            <a:ext cx="1987741" cy="234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12"/>
          <p:cNvSpPr txBox="1">
            <a:spLocks noChangeArrowheads="1"/>
          </p:cNvSpPr>
          <p:nvPr/>
        </p:nvSpPr>
        <p:spPr bwMode="auto">
          <a:xfrm>
            <a:off x="364529" y="3260609"/>
            <a:ext cx="288448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lang="zh-CN" altLang="en-US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音序</a:t>
            </a:r>
            <a:r>
              <a:rPr lang="en-US" altLang="zh-CN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D </a:t>
            </a:r>
            <a:r>
              <a:rPr lang="zh-CN" altLang="en-US" sz="2100" b="1">
                <a:solidFill>
                  <a:srgbClr val="034A4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部首：扌</a:t>
            </a:r>
            <a:endParaRPr lang="zh-CN" altLang="en-US" sz="2100" b="1">
              <a:solidFill>
                <a:srgbClr val="034A4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36296" y="366792"/>
            <a:ext cx="735623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/>
          </a:p>
          <a:p>
            <a:r>
              <a:rPr lang="en-US" altLang="zh-CN" sz="2800" err="1"/>
              <a:t>diào</a:t>
            </a:r>
            <a:endParaRPr lang="zh-CN" altLang="en-US" sz="2800"/>
          </a:p>
        </p:txBody>
      </p:sp>
      <p:grpSp>
        <p:nvGrpSpPr>
          <p:cNvPr id="4" name="组合 3"/>
          <p:cNvGrpSpPr/>
          <p:nvPr/>
        </p:nvGrpSpPr>
        <p:grpSpPr>
          <a:xfrm>
            <a:off x="5217118" y="3644248"/>
            <a:ext cx="3556671" cy="1098282"/>
            <a:chOff x="367257" y="1281293"/>
            <a:chExt cx="8714286" cy="2892795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rcRect t="50000" r="16121"/>
            <a:stretch>
              <a:fillRect/>
            </a:stretch>
          </p:blipFill>
          <p:spPr>
            <a:xfrm>
              <a:off x="367257" y="2731231"/>
              <a:ext cx="7309471" cy="1442857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/>
            <a:srcRect b="48974"/>
            <a:stretch>
              <a:fillRect/>
            </a:stretch>
          </p:blipFill>
          <p:spPr>
            <a:xfrm>
              <a:off x="367257" y="1281293"/>
              <a:ext cx="8714286" cy="1472473"/>
            </a:xfrm>
            <a:prstGeom prst="rect">
              <a:avLst/>
            </a:prstGeom>
          </p:spPr>
        </p:pic>
      </p:grpSp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左大括号 24"/>
          <p:cNvSpPr/>
          <p:nvPr/>
        </p:nvSpPr>
        <p:spPr>
          <a:xfrm>
            <a:off x="1150938" y="1112838"/>
            <a:ext cx="254000" cy="3014662"/>
          </a:xfrm>
          <a:prstGeom prst="leftBrace">
            <a:avLst>
              <a:gd name="adj1" fmla="val 78710"/>
              <a:gd name="adj2" fmla="val 50000"/>
            </a:avLst>
          </a:prstGeom>
          <a:ln w="25400">
            <a:solidFill>
              <a:srgbClr val="33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sz="3000" noProof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右大括号 32"/>
          <p:cNvSpPr/>
          <p:nvPr/>
        </p:nvSpPr>
        <p:spPr>
          <a:xfrm>
            <a:off x="7708900" y="1152525"/>
            <a:ext cx="285750" cy="3014663"/>
          </a:xfrm>
          <a:prstGeom prst="rightBrace">
            <a:avLst>
              <a:gd name="adj1" fmla="val 110216"/>
              <a:gd name="adj2" fmla="val 50000"/>
            </a:avLst>
          </a:prstGeom>
          <a:ln w="25400">
            <a:solidFill>
              <a:srgbClr val="33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矩形 7"/>
          <p:cNvSpPr>
            <a:spLocks noChangeArrowheads="1"/>
          </p:cNvSpPr>
          <p:nvPr/>
        </p:nvSpPr>
        <p:spPr bwMode="auto">
          <a:xfrm>
            <a:off x="1404938" y="2214563"/>
            <a:ext cx="3214687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000" b="1">
                <a:latin typeface="楷体" panose="02010609060101010101" pitchFamily="49" charset="-122"/>
                <a:ea typeface="楷体" panose="02010609060101010101" pitchFamily="49" charset="-122"/>
              </a:rPr>
              <a:t>经过：挡住去路</a:t>
            </a:r>
            <a:endParaRPr lang="zh-CN" altLang="en-US" sz="30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1404938" y="822325"/>
            <a:ext cx="47498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000" b="1">
                <a:latin typeface="楷体" panose="02010609060101010101" pitchFamily="49" charset="-122"/>
                <a:ea typeface="楷体" panose="02010609060101010101" pitchFamily="49" charset="-122"/>
              </a:rPr>
              <a:t>起因：小马驮麦子去磨坊</a:t>
            </a:r>
            <a:endParaRPr lang="zh-CN" altLang="en-US" sz="30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矩形 7"/>
          <p:cNvSpPr>
            <a:spLocks noChangeArrowheads="1"/>
          </p:cNvSpPr>
          <p:nvPr/>
        </p:nvSpPr>
        <p:spPr bwMode="auto">
          <a:xfrm>
            <a:off x="1404938" y="3578225"/>
            <a:ext cx="6345237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000" b="1">
                <a:latin typeface="楷体" panose="02010609060101010101" pitchFamily="49" charset="-122"/>
                <a:ea typeface="楷体" panose="02010609060101010101" pitchFamily="49" charset="-122"/>
              </a:rPr>
              <a:t>结果：小马过了河，河水不深也不浅</a:t>
            </a:r>
            <a:endParaRPr lang="zh-CN" altLang="en-US" sz="30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4338638" y="1827213"/>
            <a:ext cx="254000" cy="1639887"/>
          </a:xfrm>
          <a:prstGeom prst="leftBrace">
            <a:avLst>
              <a:gd name="adj1" fmla="val 78710"/>
              <a:gd name="adj2" fmla="val 50000"/>
            </a:avLst>
          </a:prstGeom>
          <a:ln w="25400">
            <a:solidFill>
              <a:srgbClr val="33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sz="3000" noProof="1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7"/>
          <p:cNvSpPr>
            <a:spLocks noChangeArrowheads="1"/>
          </p:cNvSpPr>
          <p:nvPr/>
        </p:nvSpPr>
        <p:spPr bwMode="auto">
          <a:xfrm>
            <a:off x="4600575" y="1543050"/>
            <a:ext cx="2274888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000" b="1">
                <a:latin typeface="楷体" panose="02010609060101010101" pitchFamily="49" charset="-122"/>
                <a:ea typeface="楷体" panose="02010609060101010101" pitchFamily="49" charset="-122"/>
              </a:rPr>
              <a:t>老牛说水浅</a:t>
            </a:r>
            <a:endParaRPr lang="zh-CN" altLang="en-US" sz="30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矩形 7"/>
          <p:cNvSpPr>
            <a:spLocks noChangeArrowheads="1"/>
          </p:cNvSpPr>
          <p:nvPr/>
        </p:nvSpPr>
        <p:spPr bwMode="auto">
          <a:xfrm>
            <a:off x="4600575" y="2233613"/>
            <a:ext cx="2179638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000" b="1">
                <a:latin typeface="楷体" panose="02010609060101010101" pitchFamily="49" charset="-122"/>
                <a:ea typeface="楷体" panose="02010609060101010101" pitchFamily="49" charset="-122"/>
              </a:rPr>
              <a:t>松鼠说水深</a:t>
            </a:r>
            <a:endParaRPr lang="zh-CN" altLang="en-US" sz="30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7"/>
          <p:cNvSpPr>
            <a:spLocks noChangeArrowheads="1"/>
          </p:cNvSpPr>
          <p:nvPr/>
        </p:nvSpPr>
        <p:spPr bwMode="auto">
          <a:xfrm>
            <a:off x="4600575" y="2925763"/>
            <a:ext cx="2274888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000" b="1">
                <a:latin typeface="楷体" panose="02010609060101010101" pitchFamily="49" charset="-122"/>
                <a:ea typeface="楷体" panose="02010609060101010101" pitchFamily="49" charset="-122"/>
              </a:rPr>
              <a:t>妈妈让他试</a:t>
            </a:r>
            <a:endParaRPr lang="zh-CN" altLang="en-US" sz="30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755" name="文本框 7"/>
          <p:cNvSpPr txBox="1">
            <a:spLocks noChangeArrowheads="1"/>
          </p:cNvSpPr>
          <p:nvPr/>
        </p:nvSpPr>
        <p:spPr bwMode="auto">
          <a:xfrm>
            <a:off x="424002" y="1639888"/>
            <a:ext cx="707886" cy="196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3400" b="1">
                <a:latin typeface="楷体" panose="02010609060101010101" pitchFamily="49" charset="-122"/>
                <a:ea typeface="楷体" panose="02010609060101010101" pitchFamily="49" charset="-122"/>
              </a:rPr>
              <a:t>小马过河</a:t>
            </a:r>
            <a:endParaRPr lang="zh-CN" altLang="en-US" sz="3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8099564" y="1512888"/>
            <a:ext cx="707886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3400" b="1">
                <a:latin typeface="楷体" panose="02010609060101010101" pitchFamily="49" charset="-122"/>
                <a:ea typeface="楷体" panose="02010609060101010101" pitchFamily="49" charset="-122"/>
              </a:rPr>
              <a:t>实践出真知</a:t>
            </a:r>
            <a:endParaRPr lang="zh-CN" altLang="en-US" sz="3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3" grpId="0"/>
      <p:bldP spid="36" grpId="0"/>
      <p:bldP spid="37" grpId="0"/>
      <p:bldP spid="14" grpId="0"/>
      <p:bldP spid="2" grpId="0"/>
      <p:bldP spid="4" grpId="0"/>
      <p:bldP spid="6" grpId="0"/>
      <p:bldP spid="7" grpId="0"/>
      <p:bldP spid="31755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0" name="矩形 3"/>
          <p:cNvSpPr>
            <a:spLocks noChangeArrowheads="1"/>
          </p:cNvSpPr>
          <p:nvPr/>
        </p:nvSpPr>
        <p:spPr bwMode="auto">
          <a:xfrm>
            <a:off x="376238" y="847725"/>
            <a:ext cx="8362950" cy="35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    本文讲的是小马去磨坊的时候被一条小河挡住了去路，老牛告诉他河水</a:t>
            </a:r>
            <a:r>
              <a:rPr lang="zh-CN" altLang="en-US" sz="32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很浅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，而松鼠说水</a:t>
            </a:r>
            <a:r>
              <a:rPr lang="zh-CN" altLang="en-US" sz="32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很深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，他在妈妈的鼓励下，</a:t>
            </a:r>
            <a:r>
              <a:rPr lang="zh-CN" altLang="en-US" sz="32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亲自尝试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，成功蹚过了河。这个故事告诉我们：别人说的是不是对的，要</a:t>
            </a:r>
            <a:r>
              <a:rPr lang="zh-CN" altLang="en-US" sz="32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动脑筋思考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，并</a:t>
            </a:r>
            <a:r>
              <a:rPr lang="zh-CN" altLang="en-US" sz="32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亲自试一试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，才能得出</a:t>
            </a:r>
            <a:r>
              <a:rPr lang="zh-CN" altLang="en-US" sz="32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正确的结论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32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0" grpId="0"/>
    </p:bldLst>
  </p:timing>
</p:sld>
</file>

<file path=ppt/tags/tag1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84553"/>
</p:tagLst>
</file>

<file path=ppt/tags/tag2.xml><?xml version="1.0" encoding="utf-8"?>
<p:tagLst xmlns:p="http://schemas.openxmlformats.org/presentationml/2006/main">
  <p:tag name="KSO_WM_SPECIAL_SOURCE" val="bdnull"/>
</p:tagLst>
</file>

<file path=ppt/tags/tag3.xml><?xml version="1.0" encoding="utf-8"?>
<p:tagLst xmlns:p="http://schemas.openxmlformats.org/presentationml/2006/main">
  <p:tag name="KSO_WM_SPECIAL_SOURCE" val="bdnull"/>
</p:tagLst>
</file>

<file path=ppt/tags/tag4.xml><?xml version="1.0" encoding="utf-8"?>
<p:tagLst xmlns:p="http://schemas.openxmlformats.org/presentationml/2006/main">
  <p:tag name="KSO_WM_SPECIAL_SOURCE" val="bdnull"/>
</p:tagLst>
</file>

<file path=ppt/tags/tag5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84553"/>
</p:tagLst>
</file>

<file path=ppt/tags/tag6.xml><?xml version="1.0" encoding="utf-8"?>
<p:tagLst xmlns:p="http://schemas.openxmlformats.org/presentationml/2006/main">
  <p:tag name="KSO_WM_SPECIAL_SOURCE" val="bdnull"/>
</p:tagLst>
</file>

<file path=ppt/tags/tag7.xml><?xml version="1.0" encoding="utf-8"?>
<p:tagLst xmlns:p="http://schemas.openxmlformats.org/presentationml/2006/main">
  <p:tag name="KSO_WM_SPECIAL_SOURCE" val="bdnull"/>
</p:tagLst>
</file>

<file path=ppt/tags/tag8.xml><?xml version="1.0" encoding="utf-8"?>
<p:tagLst xmlns:p="http://schemas.openxmlformats.org/presentationml/2006/main">
  <p:tag name="KSO_WM_SPECIAL_SOURCE" val="bdnull"/>
</p:tagLst>
</file>

<file path=ppt/tags/tag9.xml><?xml version="1.0" encoding="utf-8"?>
<p:tagLst xmlns:p="http://schemas.openxmlformats.org/presentationml/2006/main">
  <p:tag name="KSO_WM_SPECIAL_SOURCE" val="bdnull"/>
</p:tagLst>
</file>

<file path=ppt/tags/tag10.xml><?xml version="1.0" encoding="utf-8"?>
<p:tagLst xmlns:p="http://schemas.openxmlformats.org/presentationml/2006/main">
  <p:tag name="KSO_WM_SPECIAL_SOURCE" val="bdnull"/>
</p:tagLst>
</file>

<file path=ppt/tags/tag11.xml><?xml version="1.0" encoding="utf-8"?>
<p:tagLst xmlns:p="http://schemas.openxmlformats.org/presentationml/2006/main">
  <p:tag name="KSO_WM_SPECIAL_SOURCE" val="bdnull"/>
</p:tagLst>
</file>

<file path=ppt/tags/tag12.xml><?xml version="1.0" encoding="utf-8"?>
<p:tagLst xmlns:p="http://schemas.openxmlformats.org/presentationml/2006/main">
  <p:tag name="KSO_WM_SPECIAL_SOURCE" val="bdnull"/>
</p:tagLst>
</file>

<file path=ppt/tags/tag13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84553"/>
</p:tagLst>
</file>

<file path=ppt/tags/tag14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84553"/>
</p:tagLst>
</file>

<file path=ppt/tags/tag15.xml><?xml version="1.0" encoding="utf-8"?>
<p:tagLst xmlns:p="http://schemas.openxmlformats.org/presentationml/2006/main">
  <p:tag name="KSO_WM_SPECIAL_SOURCE" val="bdnull"/>
</p:tagLst>
</file>

<file path=ppt/tags/tag16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84553"/>
</p:tagLst>
</file>

<file path=ppt/tags/tag17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84553"/>
</p:tagLst>
</file>

<file path=ppt/tags/tag18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84553"/>
</p:tagLst>
</file>

<file path=ppt/tags/tag19.xml><?xml version="1.0" encoding="utf-8"?>
<p:tagLst xmlns:p="http://schemas.openxmlformats.org/presentationml/2006/main">
  <p:tag name="KSO_WM_SPECIAL_SOURCE" val="bdnull"/>
</p:tagLst>
</file>

<file path=ppt/tags/tag20.xml><?xml version="1.0" encoding="utf-8"?>
<p:tagLst xmlns:p="http://schemas.openxmlformats.org/presentationml/2006/main">
  <p:tag name="KSO_WM_SPECIAL_SOURCE" val="bdnull"/>
</p:tagLst>
</file>

<file path=ppt/tags/tag21.xml><?xml version="1.0" encoding="utf-8"?>
<p:tagLst xmlns:p="http://schemas.openxmlformats.org/presentationml/2006/main">
  <p:tag name="KSO_WM_SPECIAL_SOURCE" val="bdnull"/>
</p:tagLst>
</file>

<file path=ppt/tags/tag22.xml><?xml version="1.0" encoding="utf-8"?>
<p:tagLst xmlns:p="http://schemas.openxmlformats.org/presentationml/2006/main">
  <p:tag name="KSO_WM_SPECIAL_SOURCE" val="bdnull"/>
</p:tagLst>
</file>

<file path=ppt/tags/tag23.xml><?xml version="1.0" encoding="utf-8"?>
<p:tagLst xmlns:p="http://schemas.openxmlformats.org/presentationml/2006/main">
  <p:tag name="KSO_WM_SPECIAL_SOURCE" val="bdnull"/>
</p:tagLst>
</file>

<file path=ppt/tags/tag24.xml><?xml version="1.0" encoding="utf-8"?>
<p:tagLst xmlns:p="http://schemas.openxmlformats.org/presentationml/2006/main">
  <p:tag name="KSO_WM_SPECIAL_SOURCE" val="bdnull"/>
</p:tagLst>
</file>

<file path=ppt/tags/tag25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84553"/>
</p:tagLst>
</file>

<file path=ppt/tags/tag26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84553"/>
</p:tagLst>
</file>

<file path=ppt/tags/tag27.xml><?xml version="1.0" encoding="utf-8"?>
<p:tagLst xmlns:p="http://schemas.openxmlformats.org/presentationml/2006/main">
  <p:tag name="AS_OS" val="Unix 3.10 unknown"/>
  <p:tag name="AS_RELEASE_DATE" val="2020.11.30"/>
  <p:tag name="AS_TITLE" val="Aspose.Slides for Java"/>
  <p:tag name="AS_VERSION" val="20.11"/>
  <p:tag name="COMMONDATA" val="eyJoZGlkIjoiMDY0MWMxMDI0MTIyZWFlZjRkNWRkMzI1NmRkY2QyZmMifQ=="/>
  <p:tag name="KSO_DOCER_TEMPLATE_OPEN_ONCE_MARK" val="1"/>
</p:tagLst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宋-黑-T-A">
      <a:majorFont>
        <a:latin typeface="Times New Roman"/>
        <a:ea typeface="黑体"/>
        <a:cs typeface="Arial"/>
      </a:majorFont>
      <a:minorFont>
        <a:latin typeface="Arial"/>
        <a:ea typeface="宋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 eaLnBrk="1" hangingPunct="1">
          <a:lnSpc>
            <a:spcPct val="120000"/>
          </a:lnSpc>
          <a:defRPr sz="3200" b="1" dirty="0" smtClean="0">
            <a:latin typeface="楷体" panose="02010609060101010101" pitchFamily="49" charset="-122"/>
            <a:ea typeface="楷体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1617</Words>
  <Application>WPS 演示</Application>
  <PresentationFormat>On-screen Show (16:9)</PresentationFormat>
  <Paragraphs>188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Arial</vt:lpstr>
      <vt:lpstr>宋体</vt:lpstr>
      <vt:lpstr>Wingdings</vt:lpstr>
      <vt:lpstr>Calibri</vt:lpstr>
      <vt:lpstr>楷体</vt:lpstr>
      <vt:lpstr>Calibri</vt:lpstr>
      <vt:lpstr>Times New Roman</vt:lpstr>
      <vt:lpstr>黑体</vt:lpstr>
      <vt:lpstr>微软雅黑</vt:lpstr>
      <vt:lpstr>Arial Unicode MS</vt:lpstr>
      <vt:lpstr>华文新魏</vt:lpstr>
      <vt:lpstr>仿宋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学科网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rbm.xkw.com</dc:creator>
  <cp:lastModifiedBy>_刘欢</cp:lastModifiedBy>
  <cp:revision>2</cp:revision>
  <cp:lastPrinted>2022-07-27T21:49:00Z</cp:lastPrinted>
  <dcterms:created xsi:type="dcterms:W3CDTF">2022-07-27T21:49:00Z</dcterms:created>
  <dcterms:modified xsi:type="dcterms:W3CDTF">2026-09-05T06:40:18Z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  <property fmtid="{D5CDD505-2E9C-101B-9397-08002B2CF9AE}" pid="6" name="KSOTemplateUUID">
    <vt:lpwstr>v1.0_mb_t5VkqcUEulGUyEKEFcYjsA==</vt:lpwstr>
  </property>
  <property fmtid="{D5CDD505-2E9C-101B-9397-08002B2CF9AE}" pid="7" name="ICV">
    <vt:lpwstr>4627408A6F174AB9B591BC906300AB6F_11</vt:lpwstr>
  </property>
  <property fmtid="{D5CDD505-2E9C-101B-9397-08002B2CF9AE}" pid="8" name="KSOProductBuildVer">
    <vt:lpwstr>2052-12.1.0.28505</vt:lpwstr>
  </property>
</Properties>
</file>